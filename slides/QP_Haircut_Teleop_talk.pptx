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6B3E071-6211-06A1-CC63-DFC69C76A71A}">
          <p14:sldIdLst>
            <p14:sldId id="256"/>
            <p14:sldId id="257"/>
            <p14:sldId id="258"/>
            <p14:sldId id="259"/>
            <p14:sldId id="260"/>
          </p14:sldIdLst>
        </p14:section>
        <p14:section name="Method" id="{44C89035-BA37-B86F-22AF-9FF20B1E860F}">
          <p14:sldIdLst>
            <p14:sldId id="261"/>
            <p14:sldId id="262"/>
            <p14:sldId id="263"/>
          </p14:sldIdLst>
        </p14:section>
        <p14:section name="Analysis" id="{D7E0BD3E-AEFD-3E71-14D1-070E0D88DCB4}">
          <p14:sldIdLst>
            <p14:sldId id="264"/>
            <p14:sldId id="265"/>
          </p14:sldIdLst>
        </p14:section>
        <p14:section name="Experiments" id="{306094B8-DF05-566A-430B-E5E52488C9D1}">
          <p14:sldIdLst>
            <p14:sldId id="266"/>
            <p14:sldId id="267"/>
            <p14:sldId id="268"/>
            <p14:sldId id="269"/>
            <p14:sldId id="270"/>
            <p14:sldId id="271"/>
          </p14:sldIdLst>
        </p14:section>
        <p14:section name="Conclusion" id="{0A009AC4-6730-081A-1963-0D6722AFF347}">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3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504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presents a quadratic programming based teleoperation scheme and its applications for robotic haircutting. The operator gives a desired pose, and the slave manipulator follows it within its joint-angle and joint-velocity limits, so the master and the slave do not need the same joints. We show two applications: a heterogeneous SO101 master arm with a Piper slave arm, and a smartphone that replaces the master arm.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six parts: the motivation, the problem formulation as a quadratic program, the discrete-time projection neural network that solves it, the convergence analysis, the two haircutting experiments,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Fully autonomous haircutting is still difficult because hair modeling, perception and personalized styling are open problems, so teleoperation that keeps a human in the loop is a practical way forward. In a typical master-slave system the command is mapped joint by joint. This needs the two arms to have matching joints, it does not by itself respect the joint limits of the slave, and it needs a dedicated master arm. In our scheme the operator only gives a desired pose. A quadratic program, solved online by a projection neural network, turns this pose into joint commands of the slave within its limits. So the master can be a different arm, or even a smartphone.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difficulties. First, the master and the slave are heterogeneous: an SO101 arm and a Piper arm have different joint arrangements and workspaces, so the command cannot be copied joint by joint. Second, a dedicated master arm at each operator site increases the equipment cost and limits access. Third, the tool moves near the head, so every joint command must respect the joint-angle and joint-velocity limits, and it must be computed within the sampling interval of ten milliseconds. So we need a pose-level command that the slave realizes within its own limits, computed online, and independent of the device that supplies the pose.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makes three contributions. First, a QP-based teleoperation scheme for robotic haircutting, which is the first of its kind as far as we know; its QP problem is solved online by a discrete-time projection neural network. Second, the scheme realizes teleoperation with heterogeneous master and slave manipulators, an SO101 master and a Piper slave, without joint correspondence. Third, it realizes a smartphone-based operation mode via a visual tag, which replaces the dedicated master arm and gives a low-cost solution.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from the projection neural network of Xia and coauthors. For a convex objective F over a box set Omega, the network moves the state toward the projection of a gradient step. Its state is stable at the optimal solution. For a box, the projection is just elementwise clipping between the lower bound l and the upper bound b, as the figure shows, so it is very cheap to compute.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tracking error is the desired pose minus the forward kinematics of the slave. Here the desired pose has six dimensions and the Piper slave has six joints, so it has no redundancy: accurate tracking and small joint velocities conflict, especially near singularities and joint limits. So the joint velocity is computed from this problem. The first term drives the end-effector velocity toward k_e times the error, and the second term penalizes large joint velocities; lambda sets the trade-off. The bounds combine the joint-velocity limit with the distance to the joint-angle limits divided by the sampling interval, so a feasible velocity never pushes a joint past its limit within one step. Dropping constants, this is a QP with Hessian J transpose W squared J plus lambda 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designed in three steps. Step one: a vector solves the QP if and only if it is a fixed point of the projected gradient map. Step two: as in the projection neural network, this gives a continuous-time model whose equilibrium is the optimal solution. Step three: since the slave is controlled digitally, we discretize it by the Euler forward method, with alpha equal to tau over epsilon, and execute only one step per time instant. The result is this update. The gradient term reduces the tracking error, and the projection enforces the joint limits. The joint command is the measured angle plus the sampling interval times u_k. Algorithm 1 is just these four operations. Alpha acts as a low-pass filter: a smaller alpha gives a smoother command, at the cost of slower approach to the optimum.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has four results. Theorem 1: because the Hessian is positive definite, the QP has a unique optimal solution, and it is exactly the equilibrium of the network. Lemma 1 is the non-expansiveness of the projection. Theorem 2: with alpha in zero to one and gamma below two over the largest eigenvalue, the distance to the optimum shrinks by a factor rho_k smaller than one at each step, and if the QP stays fixed, the network converges globally at a linear rate. Theorem 3 is the one that matters most for haircutting: at every time instant, whether or not the network has converged, the joint velocity and the joint command stay within their limits, even with one iteration. It also gives a residual-based bound on the distance to the optimum.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theory means in practice. On the left is an illustration on a small two-dimensional QP, drawn for this talk: on a log scale, the distance to the optimum decreases along a straight line, below the bound rho to the power k from Theorem 2; with alpha equal to 0.2 it is slower, which is the price of a smoother command. On the right is the paper's figure of joints 4 to 6 in the master-arm trial with alpha equal to one. Joint 5 often reaches its upper limit of 65 degrees and stays there, and all commanded joint angles remain within the limits in both trials, which verifies Theorem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application, an SO101 arm is the master and a six-joint Piper arm is the slave, with a tool guided around a mannequin head. The two arms have different joints, and the end-effector pose of the master is the desired pose of the slave. The clip, at twice the real speed, shows the simulation views with the model-based coverage and the camera view of the real arms. The controller runs at 100 hertz with a joint-velocity limit of 90 degrees per second. We ran two trials, with alpha equal to one and 0.2.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operator moves the master freely, the two trials are compared by statistics. With alpha equal to 0.2, the mean position error drops from 12.12 to 9.76 millimeters, and the mean orientation error from 9.20 to 6.01 degrees, while the median position error is almost the same, about 8 millimeters. The peak error is much smaller. The larger errors for alpha equal to one come mainly from two segments: near a wrist singularity between 129 and 141 seconds, and in the last five seconds, when the operator lifts the master out of the reachable region of the slave.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happens at a joint limit. With alpha equal to one, the actual phi_y stays below the desired one from 65 to 125 seconds, when joint 5 stays at its upper limit. If the desired orientation needs joint 5 to pass its limit, the orientation cannot be fully achieved, but the position is still tracked, because the orientation weight is smaller than the position weight. The median orientation error is 6.06 degrees at the limit and 3.41 otherwise. In the table, for alpha equal to 0.2, the position errors near and away from the limits are close, while the orientation error is larger near the limits. For alpha equal to one, the errors away from the limits are larger, because the singular segment and the last seconds are away from the limits.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measured on the head model: a region counts as covered when it comes within 30 millimeters of the tool tip. The final geometric coverage reaches 99.7 percent for alpha equal to one and 99.5 percent for alpha equal to 0.2. The mean computation time is about 0.7 milliseconds in both trials, much shorter than the sampling interval of 10 milliseconds. So the scheme teleoperates robotic haircutting with heterogeneous arms, and alpha equal to 0.2, with its smoother command and smaller peak errors, is more suitable near the head.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application the master arm is replaced by a smartphone. Its camera observes a board with four AprilTags, and the estimated pose is used as the desired pose of the slave. The same QP and network compute the joint commands. The smartphone also shows the MuJoCo view and the camera view of the slave as visual feedback. In this experiment the network is repeated until convergence at each time instant. The trial lasts 829 seconds with a median sampling interval of 24 milliseconds. The clip of the smartphone screen plays at twice the real speed.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desired position from the hand-held smartphone contains rapid variations. The slave follows a smoother trajectory because of the joint-velocity limits, which causes short peaks of the position error, so the mean position error is larger than in the master-arm mode. Both modes complete the haircutting task: the smartphone mode reaches 96.96 percent coverage with a mean computation time of 1.88 milliseconds. Joint 5 again often reaches its upper limit; its commanded angle exceeds the limit by at most 0.11 degrees, and only when the measured angle has already overshot it. Hence a low-cost smartphone can take the place of the dedicated master arm.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message: a QP-based scheme realizes heterogeneous teleoperation for robotic haircutting. The slave follows the operator's pose within its joint-angle and joint-velocity limits, with no joint correspondence, and a discrete-time projection neural network solves the QP online. We proved that it converges globally and linearly, and that its output satisfies the joint limits at every time instant even with one iteration. It works with a heterogeneous SO101 and Piper pair and with a low-cost smartphone. Future work includes filtering the pose from the smartphone, evaluation under remote communication, reducing the error caused by joint limits, and evaluating physical haircutting outcomes. Thank you.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91695" cy="2697480"/>
          </a:xfrm>
          <a:prstGeom prst="rect">
            <a:avLst/>
          </a:prstGeom>
          <a:solidFill>
            <a:schemeClr val="accent1"/>
          </a:solidFill>
          <a:ln/>
        </p:spPr>
      </p:sp>
      <p:sp>
        <p:nvSpPr>
          <p:cNvPr id="3" name="Text 1"/>
          <p:cNvSpPr>
            <a:spLocks noGrp="1"/>
          </p:cNvSpPr>
          <p:nvPr>
            <p:ph type="title" idx="101" hasCustomPrompt="1"/>
          </p:nvPr>
        </p:nvSpPr>
        <p:spPr>
          <a:xfrm>
            <a:off x="731520" y="320040"/>
            <a:ext cx="10728655" cy="1280160"/>
          </a:xfrm>
          <a:prstGeom prst="rect">
            <a:avLst/>
          </a:prstGeom>
          <a:noFill/>
          <a:ln/>
        </p:spPr>
        <p:txBody>
          <a:bodyPr wrap="square" rtlCol="0"/>
          <a:lstStyle>
            <a:lvl1pPr marL="0" indent="0" algn="ctr">
              <a:buNone/>
              <a:defRPr lang="en-US" sz="3000" b="1" dirty="0">
                <a:solidFill>
                  <a:schemeClr val="bg1"/>
                </a:solidFill>
              </a:defRPr>
            </a:lvl1pPr>
          </a:lstStyle>
          <a:p>
            <a:pPr marL="0" indent="0" algn="ctr">
              <a:buNone/>
            </a:pPr>
            <a:endParaRPr lang="en-US" sz="3000" dirty="0"/>
          </a:p>
        </p:txBody>
      </p:sp>
      <p:sp>
        <p:nvSpPr>
          <p:cNvPr id="4" name="Text 1"/>
          <p:cNvSpPr>
            <a:spLocks noGrp="1"/>
          </p:cNvSpPr>
          <p:nvPr>
            <p:ph type="body" idx="102" hasCustomPrompt="1"/>
          </p:nvPr>
        </p:nvSpPr>
        <p:spPr>
          <a:xfrm>
            <a:off x="1371600" y="1691640"/>
            <a:ext cx="9448495" cy="731520"/>
          </a:xfrm>
          <a:prstGeom prst="rect">
            <a:avLst/>
          </a:prstGeom>
          <a:noFill/>
          <a:ln/>
        </p:spPr>
        <p:txBody>
          <a:bodyPr wrap="square" rtlCol="0"/>
          <a:lstStyle>
            <a:lvl1pPr marL="0" indent="0" algn="ctr">
              <a:buNone/>
              <a:defRPr lang="en-US" sz="1800" dirty="0">
                <a:solidFill>
                  <a:schemeClr val="accent5"/>
                </a:solidFill>
              </a:defRPr>
            </a:lvl1pPr>
          </a:lstStyle>
          <a:p>
            <a:pPr marL="0" indent="0" algn="ctr">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chemeClr val="accent1"/>
          </a:solidFill>
          <a:ln/>
        </p:spPr>
      </p:sp>
      <p:sp>
        <p:nvSpPr>
          <p:cNvPr id="3" name="Text 1"/>
          <p:cNvSpPr>
            <a:spLocks noGrp="1"/>
          </p:cNvSpPr>
          <p:nvPr>
            <p:ph type="title" idx="101" hasCustomPrompt="1"/>
          </p:nvPr>
        </p:nvSpPr>
        <p:spPr>
          <a:xfrm>
            <a:off x="548640" y="109728"/>
            <a:ext cx="11094415" cy="658368"/>
          </a:xfrm>
          <a:prstGeom prst="rect">
            <a:avLst/>
          </a:prstGeom>
          <a:noFill/>
          <a:ln/>
        </p:spPr>
        <p:txBody>
          <a:bodyPr wrap="square" rtlCol="0"/>
          <a:lstStyle>
            <a:lvl1pPr marL="0" indent="0" algn="l">
              <a:buNone/>
              <a:defRPr lang="en-US" sz="2600" b="1" dirty="0">
                <a:solidFill>
                  <a:schemeClr val="bg1"/>
                </a:solidFill>
              </a:defRPr>
            </a:lvl1pPr>
          </a:lstStyle>
          <a:p>
            <a:pPr marL="0" indent="0" algn="l">
              <a:buNone/>
            </a:pPr>
            <a:endParaRPr lang="en-US" sz="2600" dirty="0"/>
          </a:p>
        </p:txBody>
      </p:sp>
      <p:sp>
        <p:nvSpPr>
          <p:cNvPr id="4" name="Text 1"/>
          <p:cNvSpPr>
            <a:spLocks noGrp="1"/>
          </p:cNvSpPr>
          <p:nvPr>
            <p:ph type="body" idx="102" hasCustomPrompt="1"/>
          </p:nvPr>
        </p:nvSpPr>
        <p:spPr>
          <a:xfrm>
            <a:off x="548640" y="1005840"/>
            <a:ext cx="11094415" cy="411480"/>
          </a:xfrm>
          <a:prstGeom prst="rect">
            <a:avLst/>
          </a:prstGeom>
          <a:noFill/>
          <a:ln/>
        </p:spPr>
        <p:txBody>
          <a:bodyPr wrap="square" rtlCol="0"/>
          <a:lstStyle>
            <a:lvl1pPr marL="0" indent="0" algn="l">
              <a:buNone/>
              <a:defRPr lang="en-US" sz="1500" dirty="0">
                <a:solidFill>
                  <a:schemeClr val="tx2"/>
                </a:solidFill>
              </a:defRPr>
            </a:lvl1pPr>
          </a:lstStyle>
          <a:p>
            <a:pPr marL="0" indent="0" algn="l">
              <a:buNone/>
            </a:pPr>
            <a:endParaRPr lang="en-US" sz="1500" dirty="0"/>
          </a:p>
        </p:txBody>
      </p:sp>
      <p:sp>
        <p:nvSpPr>
          <p:cNvPr id="5" name="Text 1"/>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tx2"/>
                </a:solidFill>
              </a:rPr>
              <a:t>Quadratic Programming Based Teleoperation for Robotic Haircutting</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1.gif"/></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4.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320040"/>
            <a:ext cx="10728655" cy="1280160"/>
          </a:xfrm>
          <a:prstGeom prst="rect">
            <a:avLst/>
          </a:prstGeom>
          <a:noFill/>
          <a:ln/>
        </p:spPr>
        <p:txBody>
          <a:bodyPr wrap="square" rtlCol="0" anchor="ctr"/>
          <a:lstStyle/>
          <a:p>
            <a:pPr marL="0" indent="0" algn="ctr">
              <a:buNone/>
            </a:pPr>
            <a:r>
              <a:rPr lang="en-US" sz="3000" b="1" dirty="0">
                <a:solidFill>
                  <a:schemeClr val="bg1"/>
                </a:solidFill>
              </a:rPr>
              <a:t>A Quadratic Programming Based Teleoperation Scheme and Its Applications for Robotic Haircutting</a:t>
            </a:r>
            <a:endParaRPr lang="en-US" sz="3000" dirty="0"/>
          </a:p>
        </p:txBody>
      </p:sp>
      <p:sp>
        <p:nvSpPr>
          <p:cNvPr id="3" name="Text 1"/>
          <p:cNvSpPr>
            <a:spLocks noGrp="1"/>
          </p:cNvSpPr>
          <p:nvPr>
            <p:ph type="body" idx="102" hasCustomPrompt="1"/>
          </p:nvPr>
        </p:nvSpPr>
        <p:spPr>
          <a:xfrm>
            <a:off x="1371600" y="1691640"/>
            <a:ext cx="9448495" cy="731520"/>
          </a:xfrm>
          <a:prstGeom prst="rect">
            <a:avLst/>
          </a:prstGeom>
          <a:noFill/>
          <a:ln/>
        </p:spPr>
        <p:txBody>
          <a:bodyPr wrap="square" rtlCol="0" anchor="t"/>
          <a:lstStyle/>
          <a:p>
            <a:pPr marL="0" indent="0" algn="ctr">
              <a:buNone/>
            </a:pPr>
            <a:r>
              <a:rPr lang="en-US" sz="1800" dirty="0">
                <a:solidFill>
                  <a:schemeClr val="accent5"/>
                </a:solidFill>
              </a:rPr>
              <a:t>The slave follows the operator's pose within its joint limits, without joint correspondence</a:t>
            </a:r>
            <a:endParaRPr lang="en-US" sz="1800" dirty="0"/>
          </a:p>
        </p:txBody>
      </p:sp>
      <p:pic>
        <p:nvPicPr>
          <p:cNvPr id="4" name="SO101 master arm and Piper slave arm" descr="SO101 master arm and Piper slave arm"/>
          <p:cNvPicPr>
            <a:picLocks noChangeAspect="1"/>
          </p:cNvPicPr>
          <p:nvPr/>
        </p:nvPicPr>
        <p:blipFill>
          <a:blip r:embed="rId3"/>
          <a:stretch>
            <a:fillRect/>
          </a:stretch>
        </p:blipFill>
        <p:spPr>
          <a:xfrm>
            <a:off x="3657447" y="2973070"/>
            <a:ext cx="4876800" cy="2743200"/>
          </a:xfrm>
          <a:prstGeom prst="rect">
            <a:avLst/>
          </a:prstGeom>
        </p:spPr>
      </p:pic>
      <p:sp>
        <p:nvSpPr>
          <p:cNvPr id="6" name="Text 2"/>
          <p:cNvSpPr txBox="1"/>
          <p:nvPr/>
        </p:nvSpPr>
        <p:spPr>
          <a:xfrm>
            <a:off x="3595218" y="5808980"/>
            <a:ext cx="4876800" cy="457200"/>
          </a:xfrm>
          <a:prstGeom prst="rect">
            <a:avLst/>
          </a:prstGeom>
          <a:noFill/>
          <a:ln/>
        </p:spPr>
        <p:txBody>
          <a:bodyPr wrap="square" lIns="0" tIns="0" rIns="0" bIns="0" rtlCol="0" anchor="t"/>
          <a:lstStyle/>
          <a:p>
            <a:pPr marL="0" indent="0" algn="ctr">
              <a:buNone/>
            </a:pPr>
            <a:r>
              <a:rPr lang="en-US" sz="1200" dirty="0">
                <a:solidFill>
                  <a:schemeClr val="tx2"/>
                </a:solidFill>
              </a:rPr>
              <a:t>SO101 master arm (left) and Piper slave arm (right)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Outline</a:t>
            </a:r>
            <a:endParaRPr lang="en-US" sz="2600" dirty="0"/>
          </a:p>
        </p:txBody>
      </p:sp>
      <p:sp>
        <p:nvSpPr>
          <p:cNvPr id="3" name="outline number"/>
          <p:cNvSpPr/>
          <p:nvPr/>
        </p:nvSpPr>
        <p:spPr>
          <a:xfrm>
            <a:off x="548640" y="1463040"/>
            <a:ext cx="868680" cy="868680"/>
          </a:xfrm>
          <a:prstGeom prst="roundRect">
            <a:avLst>
              <a:gd name="adj" fmla="val 10526"/>
            </a:avLst>
          </a:prstGeom>
          <a:solidFill>
            <a:schemeClr val="accent2"/>
          </a:solidFill>
          <a:ln/>
        </p:spPr>
      </p:sp>
      <p:sp>
        <p:nvSpPr>
          <p:cNvPr id="4" name="Text 2"/>
          <p:cNvSpPr txBox="1"/>
          <p:nvPr/>
        </p:nvSpPr>
        <p:spPr>
          <a:xfrm>
            <a:off x="548640" y="146304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01</a:t>
            </a:r>
            <a:endParaRPr lang="en-US" sz="2600" dirty="0"/>
          </a:p>
        </p:txBody>
      </p:sp>
      <p:sp>
        <p:nvSpPr>
          <p:cNvPr id="5" name="Text 3"/>
          <p:cNvSpPr txBox="1"/>
          <p:nvPr/>
        </p:nvSpPr>
        <p:spPr>
          <a:xfrm>
            <a:off x="1645920" y="1508760"/>
            <a:ext cx="4389120" cy="411480"/>
          </a:xfrm>
          <a:prstGeom prst="rect">
            <a:avLst/>
          </a:prstGeom>
          <a:noFill/>
          <a:ln/>
        </p:spPr>
        <p:txBody>
          <a:bodyPr wrap="square" lIns="0" tIns="0" rIns="0" bIns="0" rtlCol="0" anchor="ctr"/>
          <a:lstStyle/>
          <a:p>
            <a:pPr marL="0" indent="0">
              <a:buNone/>
            </a:pPr>
            <a:r>
              <a:rPr lang="en-US" sz="2200" b="1" dirty="0">
                <a:solidFill>
                  <a:schemeClr val="tx1"/>
                </a:solidFill>
              </a:rPr>
              <a:t>Background and Motivation</a:t>
            </a:r>
            <a:endParaRPr lang="en-US" sz="2200" dirty="0"/>
          </a:p>
        </p:txBody>
      </p:sp>
      <p:sp>
        <p:nvSpPr>
          <p:cNvPr id="6" name="Text 4"/>
          <p:cNvSpPr txBox="1"/>
          <p:nvPr/>
        </p:nvSpPr>
        <p:spPr>
          <a:xfrm>
            <a:off x="1645920" y="1938528"/>
            <a:ext cx="4389120" cy="365760"/>
          </a:xfrm>
          <a:prstGeom prst="rect">
            <a:avLst/>
          </a:prstGeom>
          <a:noFill/>
          <a:ln/>
        </p:spPr>
        <p:txBody>
          <a:bodyPr wrap="square" lIns="0" tIns="0" rIns="0" bIns="0" rtlCol="0" anchor="t"/>
          <a:lstStyle/>
          <a:p>
            <a:pPr marL="0" indent="0">
              <a:buNone/>
            </a:pPr>
            <a:r>
              <a:rPr lang="en-US" sz="1500" dirty="0">
                <a:solidFill>
                  <a:schemeClr val="tx2"/>
                </a:solidFill>
              </a:rPr>
              <a:t>Why teleoperation for robotic haircutting</a:t>
            </a:r>
            <a:endParaRPr lang="en-US" sz="1500" dirty="0"/>
          </a:p>
        </p:txBody>
      </p:sp>
      <p:sp>
        <p:nvSpPr>
          <p:cNvPr id="7" name="outline number"/>
          <p:cNvSpPr/>
          <p:nvPr/>
        </p:nvSpPr>
        <p:spPr>
          <a:xfrm>
            <a:off x="548640" y="3017520"/>
            <a:ext cx="868680" cy="868680"/>
          </a:xfrm>
          <a:prstGeom prst="roundRect">
            <a:avLst>
              <a:gd name="adj" fmla="val 10526"/>
            </a:avLst>
          </a:prstGeom>
          <a:solidFill>
            <a:schemeClr val="accent1"/>
          </a:solidFill>
          <a:ln/>
        </p:spPr>
      </p:sp>
      <p:sp>
        <p:nvSpPr>
          <p:cNvPr id="8" name="Text 6"/>
          <p:cNvSpPr txBox="1"/>
          <p:nvPr/>
        </p:nvSpPr>
        <p:spPr>
          <a:xfrm>
            <a:off x="548640" y="301752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02</a:t>
            </a:r>
            <a:endParaRPr lang="en-US" sz="2600" dirty="0"/>
          </a:p>
        </p:txBody>
      </p:sp>
      <p:sp>
        <p:nvSpPr>
          <p:cNvPr id="9" name="Text 7"/>
          <p:cNvSpPr txBox="1"/>
          <p:nvPr/>
        </p:nvSpPr>
        <p:spPr>
          <a:xfrm>
            <a:off x="1645920" y="3063240"/>
            <a:ext cx="4389120" cy="411480"/>
          </a:xfrm>
          <a:prstGeom prst="rect">
            <a:avLst/>
          </a:prstGeom>
          <a:noFill/>
          <a:ln/>
        </p:spPr>
        <p:txBody>
          <a:bodyPr wrap="square" lIns="0" tIns="0" rIns="0" bIns="0" rtlCol="0" anchor="ctr"/>
          <a:lstStyle/>
          <a:p>
            <a:pPr marL="0" indent="0">
              <a:buNone/>
            </a:pPr>
            <a:r>
              <a:rPr lang="en-US" sz="2200" b="1" dirty="0">
                <a:solidFill>
                  <a:schemeClr val="tx1"/>
                </a:solidFill>
              </a:rPr>
              <a:t>Problem Formulation</a:t>
            </a:r>
            <a:endParaRPr lang="en-US" sz="2200" dirty="0"/>
          </a:p>
        </p:txBody>
      </p:sp>
      <p:sp>
        <p:nvSpPr>
          <p:cNvPr id="10" name="Text 8"/>
          <p:cNvSpPr txBox="1"/>
          <p:nvPr/>
        </p:nvSpPr>
        <p:spPr>
          <a:xfrm>
            <a:off x="1645920" y="3493008"/>
            <a:ext cx="4389120" cy="365760"/>
          </a:xfrm>
          <a:prstGeom prst="rect">
            <a:avLst/>
          </a:prstGeom>
          <a:noFill/>
          <a:ln/>
        </p:spPr>
        <p:txBody>
          <a:bodyPr wrap="square" lIns="0" tIns="0" rIns="0" bIns="0" rtlCol="0" anchor="t"/>
          <a:lstStyle/>
          <a:p>
            <a:pPr marL="0" indent="0">
              <a:buNone/>
            </a:pPr>
            <a:r>
              <a:rPr lang="en-US" sz="1500" dirty="0">
                <a:solidFill>
                  <a:schemeClr val="tx2"/>
                </a:solidFill>
              </a:rPr>
              <a:t>Pose tracking as a QP with joint limits</a:t>
            </a:r>
            <a:endParaRPr lang="en-US" sz="1500" dirty="0"/>
          </a:p>
        </p:txBody>
      </p:sp>
      <p:sp>
        <p:nvSpPr>
          <p:cNvPr id="11" name="outline number"/>
          <p:cNvSpPr/>
          <p:nvPr/>
        </p:nvSpPr>
        <p:spPr>
          <a:xfrm>
            <a:off x="548640" y="4572000"/>
            <a:ext cx="868680" cy="868680"/>
          </a:xfrm>
          <a:prstGeom prst="roundRect">
            <a:avLst>
              <a:gd name="adj" fmla="val 10526"/>
            </a:avLst>
          </a:prstGeom>
          <a:solidFill>
            <a:schemeClr val="accent1"/>
          </a:solidFill>
          <a:ln/>
        </p:spPr>
      </p:sp>
      <p:sp>
        <p:nvSpPr>
          <p:cNvPr id="12" name="Text 10"/>
          <p:cNvSpPr txBox="1"/>
          <p:nvPr/>
        </p:nvSpPr>
        <p:spPr>
          <a:xfrm>
            <a:off x="548640" y="457200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03</a:t>
            </a:r>
            <a:endParaRPr lang="en-US" sz="2600" dirty="0"/>
          </a:p>
        </p:txBody>
      </p:sp>
      <p:sp>
        <p:nvSpPr>
          <p:cNvPr id="13" name="Text 11"/>
          <p:cNvSpPr txBox="1"/>
          <p:nvPr/>
        </p:nvSpPr>
        <p:spPr>
          <a:xfrm>
            <a:off x="1645920" y="4617720"/>
            <a:ext cx="4389120" cy="411480"/>
          </a:xfrm>
          <a:prstGeom prst="rect">
            <a:avLst/>
          </a:prstGeom>
          <a:noFill/>
          <a:ln/>
        </p:spPr>
        <p:txBody>
          <a:bodyPr wrap="square" lIns="0" tIns="0" rIns="0" bIns="0" rtlCol="0" anchor="ctr"/>
          <a:lstStyle/>
          <a:p>
            <a:pPr marL="0" indent="0">
              <a:buNone/>
            </a:pPr>
            <a:r>
              <a:rPr lang="en-US" sz="2200" b="1" dirty="0">
                <a:solidFill>
                  <a:schemeClr val="tx1"/>
                </a:solidFill>
              </a:rPr>
              <a:t>Projection Neural Network</a:t>
            </a:r>
            <a:endParaRPr lang="en-US" sz="2200" dirty="0"/>
          </a:p>
        </p:txBody>
      </p:sp>
      <p:sp>
        <p:nvSpPr>
          <p:cNvPr id="14" name="Text 12"/>
          <p:cNvSpPr txBox="1"/>
          <p:nvPr/>
        </p:nvSpPr>
        <p:spPr>
          <a:xfrm>
            <a:off x="1645920" y="5047488"/>
            <a:ext cx="4389120" cy="365760"/>
          </a:xfrm>
          <a:prstGeom prst="rect">
            <a:avLst/>
          </a:prstGeom>
          <a:noFill/>
          <a:ln/>
        </p:spPr>
        <p:txBody>
          <a:bodyPr wrap="square" lIns="0" tIns="0" rIns="0" bIns="0" rtlCol="0" anchor="t"/>
          <a:lstStyle/>
          <a:p>
            <a:pPr marL="0" indent="0">
              <a:buNone/>
            </a:pPr>
            <a:r>
              <a:rPr lang="en-US" sz="1500" dirty="0">
                <a:solidFill>
                  <a:schemeClr val="tx2"/>
                </a:solidFill>
              </a:rPr>
              <a:t>Discrete-time solver, one step per instant</a:t>
            </a:r>
            <a:endParaRPr lang="en-US" sz="1500" dirty="0"/>
          </a:p>
        </p:txBody>
      </p:sp>
      <p:sp>
        <p:nvSpPr>
          <p:cNvPr id="15" name="outline number"/>
          <p:cNvSpPr/>
          <p:nvPr/>
        </p:nvSpPr>
        <p:spPr>
          <a:xfrm>
            <a:off x="6263640" y="1463040"/>
            <a:ext cx="868680" cy="868680"/>
          </a:xfrm>
          <a:prstGeom prst="roundRect">
            <a:avLst>
              <a:gd name="adj" fmla="val 10526"/>
            </a:avLst>
          </a:prstGeom>
          <a:solidFill>
            <a:schemeClr val="accent1"/>
          </a:solidFill>
          <a:ln/>
        </p:spPr>
      </p:sp>
      <p:sp>
        <p:nvSpPr>
          <p:cNvPr id="16" name="Text 14"/>
          <p:cNvSpPr txBox="1"/>
          <p:nvPr/>
        </p:nvSpPr>
        <p:spPr>
          <a:xfrm>
            <a:off x="6263640" y="146304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04</a:t>
            </a:r>
            <a:endParaRPr lang="en-US" sz="2600" dirty="0"/>
          </a:p>
        </p:txBody>
      </p:sp>
      <p:sp>
        <p:nvSpPr>
          <p:cNvPr id="17" name="Text 15"/>
          <p:cNvSpPr txBox="1"/>
          <p:nvPr/>
        </p:nvSpPr>
        <p:spPr>
          <a:xfrm>
            <a:off x="7360920" y="1508760"/>
            <a:ext cx="4389120" cy="411480"/>
          </a:xfrm>
          <a:prstGeom prst="rect">
            <a:avLst/>
          </a:prstGeom>
          <a:noFill/>
          <a:ln/>
        </p:spPr>
        <p:txBody>
          <a:bodyPr wrap="square" lIns="0" tIns="0" rIns="0" bIns="0" rtlCol="0" anchor="ctr"/>
          <a:lstStyle/>
          <a:p>
            <a:pPr marL="0" indent="0">
              <a:buNone/>
            </a:pPr>
            <a:r>
              <a:rPr lang="en-US" sz="2200" b="1" dirty="0">
                <a:solidFill>
                  <a:schemeClr val="tx1"/>
                </a:solidFill>
              </a:rPr>
              <a:t>Convergence Analysis</a:t>
            </a:r>
            <a:endParaRPr lang="en-US" sz="2200" dirty="0"/>
          </a:p>
        </p:txBody>
      </p:sp>
      <p:sp>
        <p:nvSpPr>
          <p:cNvPr id="18" name="Text 16"/>
          <p:cNvSpPr txBox="1"/>
          <p:nvPr/>
        </p:nvSpPr>
        <p:spPr>
          <a:xfrm>
            <a:off x="7360920" y="1938528"/>
            <a:ext cx="4389120" cy="365760"/>
          </a:xfrm>
          <a:prstGeom prst="rect">
            <a:avLst/>
          </a:prstGeom>
          <a:noFill/>
          <a:ln/>
        </p:spPr>
        <p:txBody>
          <a:bodyPr wrap="square" lIns="0" tIns="0" rIns="0" bIns="0" rtlCol="0" anchor="t"/>
          <a:lstStyle/>
          <a:p>
            <a:pPr marL="0" indent="0">
              <a:buNone/>
            </a:pPr>
            <a:r>
              <a:rPr lang="en-US" sz="1500" dirty="0">
                <a:solidFill>
                  <a:schemeClr val="tx2"/>
                </a:solidFill>
              </a:rPr>
              <a:t>Optimality, linear rate, joint limits</a:t>
            </a:r>
            <a:endParaRPr lang="en-US" sz="1500" dirty="0"/>
          </a:p>
        </p:txBody>
      </p:sp>
      <p:sp>
        <p:nvSpPr>
          <p:cNvPr id="19" name="outline number"/>
          <p:cNvSpPr/>
          <p:nvPr/>
        </p:nvSpPr>
        <p:spPr>
          <a:xfrm>
            <a:off x="6263640" y="3017520"/>
            <a:ext cx="868680" cy="868680"/>
          </a:xfrm>
          <a:prstGeom prst="roundRect">
            <a:avLst>
              <a:gd name="adj" fmla="val 10526"/>
            </a:avLst>
          </a:prstGeom>
          <a:solidFill>
            <a:schemeClr val="accent1"/>
          </a:solidFill>
          <a:ln/>
        </p:spPr>
      </p:sp>
      <p:sp>
        <p:nvSpPr>
          <p:cNvPr id="20" name="Text 18"/>
          <p:cNvSpPr txBox="1"/>
          <p:nvPr/>
        </p:nvSpPr>
        <p:spPr>
          <a:xfrm>
            <a:off x="6263640" y="301752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05</a:t>
            </a:r>
            <a:endParaRPr lang="en-US" sz="2600" dirty="0"/>
          </a:p>
        </p:txBody>
      </p:sp>
      <p:sp>
        <p:nvSpPr>
          <p:cNvPr id="21" name="Text 19"/>
          <p:cNvSpPr txBox="1"/>
          <p:nvPr/>
        </p:nvSpPr>
        <p:spPr>
          <a:xfrm>
            <a:off x="7360920" y="3063240"/>
            <a:ext cx="4389120" cy="411480"/>
          </a:xfrm>
          <a:prstGeom prst="rect">
            <a:avLst/>
          </a:prstGeom>
          <a:noFill/>
          <a:ln/>
        </p:spPr>
        <p:txBody>
          <a:bodyPr wrap="square" lIns="0" tIns="0" rIns="0" bIns="0" rtlCol="0" anchor="ctr"/>
          <a:lstStyle/>
          <a:p>
            <a:pPr marL="0" indent="0">
              <a:buNone/>
            </a:pPr>
            <a:r>
              <a:rPr lang="en-US" sz="2200" b="1" dirty="0">
                <a:solidFill>
                  <a:schemeClr val="tx1"/>
                </a:solidFill>
              </a:rPr>
              <a:t>Haircutting Experiments</a:t>
            </a:r>
            <a:endParaRPr lang="en-US" sz="2200" dirty="0"/>
          </a:p>
        </p:txBody>
      </p:sp>
      <p:sp>
        <p:nvSpPr>
          <p:cNvPr id="22" name="Text 20"/>
          <p:cNvSpPr txBox="1"/>
          <p:nvPr/>
        </p:nvSpPr>
        <p:spPr>
          <a:xfrm>
            <a:off x="7360920" y="3493008"/>
            <a:ext cx="4389120" cy="365760"/>
          </a:xfrm>
          <a:prstGeom prst="rect">
            <a:avLst/>
          </a:prstGeom>
          <a:noFill/>
          <a:ln/>
        </p:spPr>
        <p:txBody>
          <a:bodyPr wrap="square" lIns="0" tIns="0" rIns="0" bIns="0" rtlCol="0" anchor="t"/>
          <a:lstStyle/>
          <a:p>
            <a:pPr marL="0" indent="0">
              <a:buNone/>
            </a:pPr>
            <a:r>
              <a:rPr lang="en-US" sz="1500" dirty="0">
                <a:solidFill>
                  <a:schemeClr val="tx2"/>
                </a:solidFill>
              </a:rPr>
              <a:t>Master-arm mode and smartphone mode</a:t>
            </a:r>
            <a:endParaRPr lang="en-US" sz="1500" dirty="0"/>
          </a:p>
        </p:txBody>
      </p:sp>
      <p:sp>
        <p:nvSpPr>
          <p:cNvPr id="23" name="outline number"/>
          <p:cNvSpPr/>
          <p:nvPr/>
        </p:nvSpPr>
        <p:spPr>
          <a:xfrm>
            <a:off x="6263640" y="4572000"/>
            <a:ext cx="868680" cy="868680"/>
          </a:xfrm>
          <a:prstGeom prst="roundRect">
            <a:avLst>
              <a:gd name="adj" fmla="val 10526"/>
            </a:avLst>
          </a:prstGeom>
          <a:solidFill>
            <a:schemeClr val="accent1"/>
          </a:solidFill>
          <a:ln/>
        </p:spPr>
      </p:sp>
      <p:sp>
        <p:nvSpPr>
          <p:cNvPr id="24" name="Text 22"/>
          <p:cNvSpPr txBox="1"/>
          <p:nvPr/>
        </p:nvSpPr>
        <p:spPr>
          <a:xfrm>
            <a:off x="6263640" y="457200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06</a:t>
            </a:r>
            <a:endParaRPr lang="en-US" sz="2600" dirty="0"/>
          </a:p>
        </p:txBody>
      </p:sp>
      <p:sp>
        <p:nvSpPr>
          <p:cNvPr id="25" name="Text 23"/>
          <p:cNvSpPr txBox="1"/>
          <p:nvPr/>
        </p:nvSpPr>
        <p:spPr>
          <a:xfrm>
            <a:off x="7360920" y="4617720"/>
            <a:ext cx="4389120" cy="411480"/>
          </a:xfrm>
          <a:prstGeom prst="rect">
            <a:avLst/>
          </a:prstGeom>
          <a:noFill/>
          <a:ln/>
        </p:spPr>
        <p:txBody>
          <a:bodyPr wrap="square" lIns="0" tIns="0" rIns="0" bIns="0" rtlCol="0" anchor="ctr"/>
          <a:lstStyle/>
          <a:p>
            <a:pPr marL="0" indent="0">
              <a:buNone/>
            </a:pPr>
            <a:r>
              <a:rPr lang="en-US" sz="2200" b="1" dirty="0">
                <a:solidFill>
                  <a:schemeClr val="tx1"/>
                </a:solidFill>
              </a:rPr>
              <a:t>Conclusion</a:t>
            </a:r>
            <a:endParaRPr lang="en-US" sz="2200" dirty="0"/>
          </a:p>
        </p:txBody>
      </p:sp>
      <p:sp>
        <p:nvSpPr>
          <p:cNvPr id="26" name="Text 24"/>
          <p:cNvSpPr txBox="1"/>
          <p:nvPr/>
        </p:nvSpPr>
        <p:spPr>
          <a:xfrm>
            <a:off x="7360920" y="5047488"/>
            <a:ext cx="4389120" cy="365760"/>
          </a:xfrm>
          <a:prstGeom prst="rect">
            <a:avLst/>
          </a:prstGeom>
          <a:noFill/>
          <a:ln/>
        </p:spPr>
        <p:txBody>
          <a:bodyPr wrap="square" lIns="0" tIns="0" rIns="0" bIns="0" rtlCol="0" anchor="t"/>
          <a:lstStyle/>
          <a:p>
            <a:pPr marL="0" indent="0">
              <a:buNone/>
            </a:pPr>
            <a:r>
              <a:rPr lang="en-US" sz="1500" dirty="0">
                <a:solidFill>
                  <a:schemeClr val="tx2"/>
                </a:solidFill>
              </a:rPr>
              <a:t>Summary and future work</a:t>
            </a:r>
            <a:endParaRPr lang="en-US" sz="1500" dirty="0"/>
          </a:p>
        </p:txBody>
      </p:sp>
      <p:sp>
        <p:nvSpPr>
          <p:cNvPr id="28"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endParaRPr lang="en-US" sz="1500" dirty="0"/>
          </a:p>
        </p:txBody>
      </p:sp>
      <p:sp>
        <p:nvSpPr>
          <p:cNvPr id="27"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Motivation</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Teleoperation keeps a human in the loop for haircutting, but joint-space mapping needs matching arms and a dedicated master.</a:t>
            </a:r>
            <a:endParaRPr lang="en-US" sz="1500" dirty="0"/>
          </a:p>
        </p:txBody>
      </p:sp>
      <p:sp>
        <p:nvSpPr>
          <p:cNvPr id="4" name="ours highlight"/>
          <p:cNvSpPr/>
          <p:nvPr/>
        </p:nvSpPr>
        <p:spPr>
          <a:xfrm>
            <a:off x="411480" y="3840480"/>
            <a:ext cx="11368735" cy="2103120"/>
          </a:xfrm>
          <a:prstGeom prst="roundRect">
            <a:avLst>
              <a:gd name="adj" fmla="val 3478"/>
            </a:avLst>
          </a:prstGeom>
          <a:solidFill>
            <a:schemeClr val="bg2"/>
          </a:solidFill>
          <a:ln/>
        </p:spPr>
      </p:sp>
      <p:sp>
        <p:nvSpPr>
          <p:cNvPr id="5" name="Text 3"/>
          <p:cNvSpPr txBox="1"/>
          <p:nvPr/>
        </p:nvSpPr>
        <p:spPr>
          <a:xfrm>
            <a:off x="548640" y="1828800"/>
            <a:ext cx="1417320" cy="1371600"/>
          </a:xfrm>
          <a:prstGeom prst="rect">
            <a:avLst/>
          </a:prstGeom>
          <a:noFill/>
          <a:ln/>
        </p:spPr>
        <p:txBody>
          <a:bodyPr wrap="square" lIns="0" tIns="0" rIns="0" bIns="0" rtlCol="0" anchor="ctr"/>
          <a:lstStyle/>
          <a:p>
            <a:pPr marL="0" indent="0">
              <a:buNone/>
            </a:pPr>
            <a:r>
              <a:rPr lang="en-US" sz="1700" b="1" dirty="0">
                <a:solidFill>
                  <a:schemeClr val="tx2"/>
                </a:solidFill>
              </a:rPr>
              <a:t>Joint-space teleoperation</a:t>
            </a:r>
            <a:endParaRPr lang="en-US" sz="1700" dirty="0"/>
          </a:p>
        </p:txBody>
      </p:sp>
      <p:pic>
        <p:nvPicPr>
          <p:cNvPr id="6" name="SO101 master arm" descr="SO101 master arm"/>
          <p:cNvPicPr>
            <a:picLocks noChangeAspect="1"/>
          </p:cNvPicPr>
          <p:nvPr/>
        </p:nvPicPr>
        <p:blipFill>
          <a:blip r:embed="rId3"/>
          <a:stretch>
            <a:fillRect/>
          </a:stretch>
        </p:blipFill>
        <p:spPr>
          <a:xfrm>
            <a:off x="2011680" y="1828800"/>
            <a:ext cx="1828800" cy="1371600"/>
          </a:xfrm>
          <a:prstGeom prst="rect">
            <a:avLst/>
          </a:prstGeom>
        </p:spPr>
      </p:pic>
      <p:sp>
        <p:nvSpPr>
          <p:cNvPr id="7" name="arrow"/>
          <p:cNvSpPr/>
          <p:nvPr/>
        </p:nvSpPr>
        <p:spPr>
          <a:xfrm>
            <a:off x="3931920" y="2377440"/>
            <a:ext cx="365760" cy="274320"/>
          </a:xfrm>
          <a:prstGeom prst="rightArrow">
            <a:avLst/>
          </a:prstGeom>
          <a:solidFill>
            <a:schemeClr val="tx2"/>
          </a:solidFill>
          <a:ln/>
        </p:spPr>
      </p:sp>
      <p:sp>
        <p:nvSpPr>
          <p:cNvPr id="8" name="joint mapping box"/>
          <p:cNvSpPr/>
          <p:nvPr/>
        </p:nvSpPr>
        <p:spPr>
          <a:xfrm>
            <a:off x="4389120" y="1828800"/>
            <a:ext cx="2194560" cy="1371600"/>
          </a:xfrm>
          <a:prstGeom prst="roundRect">
            <a:avLst>
              <a:gd name="adj" fmla="val 6667"/>
            </a:avLst>
          </a:prstGeom>
          <a:solidFill>
            <a:srgbClr val="3C4652"/>
          </a:solidFill>
          <a:ln/>
        </p:spPr>
      </p:sp>
      <p:sp>
        <p:nvSpPr>
          <p:cNvPr id="9" name="Text 6"/>
          <p:cNvSpPr txBox="1"/>
          <p:nvPr/>
        </p:nvSpPr>
        <p:spPr>
          <a:xfrm>
            <a:off x="4480560" y="1828800"/>
            <a:ext cx="2011680" cy="1371600"/>
          </a:xfrm>
          <a:prstGeom prst="rect">
            <a:avLst/>
          </a:prstGeom>
          <a:noFill/>
          <a:ln/>
        </p:spPr>
        <p:txBody>
          <a:bodyPr wrap="square" lIns="0" tIns="0" rIns="0" bIns="0" rtlCol="0" anchor="ctr"/>
          <a:lstStyle/>
          <a:p>
            <a:pPr marL="0" indent="0" algn="ctr">
              <a:buNone/>
            </a:pPr>
            <a:r>
              <a:rPr lang="en-US" sz="1500" b="1" dirty="0">
                <a:solidFill>
                  <a:schemeClr val="bg1"/>
                </a:solidFill>
              </a:rPr>
              <a:t>Joint-by-joint mapping</a:t>
            </a:r>
            <a:endParaRPr lang="en-US" sz="1500" dirty="0"/>
          </a:p>
        </p:txBody>
      </p:sp>
      <p:sp>
        <p:nvSpPr>
          <p:cNvPr id="10" name="arrow"/>
          <p:cNvSpPr/>
          <p:nvPr/>
        </p:nvSpPr>
        <p:spPr>
          <a:xfrm>
            <a:off x="6675120" y="2377440"/>
            <a:ext cx="365760" cy="274320"/>
          </a:xfrm>
          <a:prstGeom prst="rightArrow">
            <a:avLst/>
          </a:prstGeom>
          <a:solidFill>
            <a:schemeClr val="tx2"/>
          </a:solidFill>
          <a:ln/>
        </p:spPr>
      </p:sp>
      <p:pic>
        <p:nvPicPr>
          <p:cNvPr id="11" name="Piper slave arm" descr="Piper slave arm"/>
          <p:cNvPicPr>
            <a:picLocks noChangeAspect="1"/>
          </p:cNvPicPr>
          <p:nvPr/>
        </p:nvPicPr>
        <p:blipFill>
          <a:blip r:embed="rId4"/>
          <a:stretch>
            <a:fillRect/>
          </a:stretch>
        </p:blipFill>
        <p:spPr>
          <a:xfrm>
            <a:off x="7132320" y="1828800"/>
            <a:ext cx="1828800" cy="1371600"/>
          </a:xfrm>
          <a:prstGeom prst="rect">
            <a:avLst/>
          </a:prstGeom>
        </p:spPr>
      </p:pic>
      <p:sp>
        <p:nvSpPr>
          <p:cNvPr id="12" name="icon circle question_o"/>
          <p:cNvSpPr/>
          <p:nvPr/>
        </p:nvSpPr>
        <p:spPr>
          <a:xfrm>
            <a:off x="8915400" y="1874520"/>
            <a:ext cx="365760" cy="365760"/>
          </a:xfrm>
          <a:prstGeom prst="ellipse">
            <a:avLst/>
          </a:prstGeom>
          <a:solidFill>
            <a:schemeClr val="bg2"/>
          </a:solidFill>
          <a:ln/>
        </p:spPr>
      </p:sp>
      <p:pic>
        <p:nvPicPr>
          <p:cNvPr id="13" name="icon question_o" descr="question_o icon"/>
          <p:cNvPicPr>
            <a:picLocks noChangeAspect="1"/>
          </p:cNvPicPr>
          <p:nvPr/>
        </p:nvPicPr>
        <p:blipFill>
          <a:blip r:embed="rId5"/>
          <a:stretch>
            <a:fillRect/>
          </a:stretch>
        </p:blipFill>
        <p:spPr>
          <a:xfrm>
            <a:off x="9006840" y="1965960"/>
            <a:ext cx="182880" cy="182880"/>
          </a:xfrm>
          <a:prstGeom prst="rect">
            <a:avLst/>
          </a:prstGeom>
        </p:spPr>
      </p:pic>
      <p:sp>
        <p:nvSpPr>
          <p:cNvPr id="14" name="Text 9"/>
          <p:cNvSpPr txBox="1"/>
          <p:nvPr/>
        </p:nvSpPr>
        <p:spPr>
          <a:xfrm>
            <a:off x="9418320" y="1874520"/>
            <a:ext cx="2377440" cy="365760"/>
          </a:xfrm>
          <a:prstGeom prst="rect">
            <a:avLst/>
          </a:prstGeom>
          <a:noFill/>
          <a:ln/>
        </p:spPr>
        <p:txBody>
          <a:bodyPr wrap="square" lIns="0" tIns="0" rIns="0" bIns="0" rtlCol="0" anchor="ctr"/>
          <a:lstStyle/>
          <a:p>
            <a:pPr marL="0" indent="0">
              <a:buNone/>
            </a:pPr>
            <a:r>
              <a:rPr lang="en-US" sz="1400" dirty="0">
                <a:solidFill>
                  <a:schemeClr val="tx1"/>
                </a:solidFill>
              </a:rPr>
              <a:t>Different joint arrangements?</a:t>
            </a:r>
            <a:endParaRPr lang="en-US" sz="1400" dirty="0"/>
          </a:p>
        </p:txBody>
      </p:sp>
      <p:sp>
        <p:nvSpPr>
          <p:cNvPr id="15" name="icon circle question_o"/>
          <p:cNvSpPr/>
          <p:nvPr/>
        </p:nvSpPr>
        <p:spPr>
          <a:xfrm>
            <a:off x="8915400" y="2313432"/>
            <a:ext cx="365760" cy="365760"/>
          </a:xfrm>
          <a:prstGeom prst="ellipse">
            <a:avLst/>
          </a:prstGeom>
          <a:solidFill>
            <a:schemeClr val="bg2"/>
          </a:solidFill>
          <a:ln/>
        </p:spPr>
      </p:sp>
      <p:pic>
        <p:nvPicPr>
          <p:cNvPr id="16" name="icon question_o" descr="question_o icon"/>
          <p:cNvPicPr>
            <a:picLocks noChangeAspect="1"/>
          </p:cNvPicPr>
          <p:nvPr/>
        </p:nvPicPr>
        <p:blipFill>
          <a:blip r:embed="rId5"/>
          <a:stretch>
            <a:fillRect/>
          </a:stretch>
        </p:blipFill>
        <p:spPr>
          <a:xfrm>
            <a:off x="9006840" y="2404872"/>
            <a:ext cx="182880" cy="182880"/>
          </a:xfrm>
          <a:prstGeom prst="rect">
            <a:avLst/>
          </a:prstGeom>
        </p:spPr>
      </p:pic>
      <p:sp>
        <p:nvSpPr>
          <p:cNvPr id="17" name="Text 11"/>
          <p:cNvSpPr txBox="1"/>
          <p:nvPr/>
        </p:nvSpPr>
        <p:spPr>
          <a:xfrm>
            <a:off x="9418320" y="2313432"/>
            <a:ext cx="2377440" cy="365760"/>
          </a:xfrm>
          <a:prstGeom prst="rect">
            <a:avLst/>
          </a:prstGeom>
          <a:noFill/>
          <a:ln/>
        </p:spPr>
        <p:txBody>
          <a:bodyPr wrap="square" lIns="0" tIns="0" rIns="0" bIns="0" rtlCol="0" anchor="ctr"/>
          <a:lstStyle/>
          <a:p>
            <a:pPr marL="0" indent="0">
              <a:buNone/>
            </a:pPr>
            <a:r>
              <a:rPr lang="en-US" sz="1400" dirty="0">
                <a:solidFill>
                  <a:schemeClr val="tx1"/>
                </a:solidFill>
              </a:rPr>
              <a:t>Slave joint limits?</a:t>
            </a:r>
            <a:endParaRPr lang="en-US" sz="1400" dirty="0"/>
          </a:p>
        </p:txBody>
      </p:sp>
      <p:sp>
        <p:nvSpPr>
          <p:cNvPr id="18" name="icon circle question_o"/>
          <p:cNvSpPr/>
          <p:nvPr/>
        </p:nvSpPr>
        <p:spPr>
          <a:xfrm>
            <a:off x="8915400" y="2752344"/>
            <a:ext cx="365760" cy="365760"/>
          </a:xfrm>
          <a:prstGeom prst="ellipse">
            <a:avLst/>
          </a:prstGeom>
          <a:solidFill>
            <a:schemeClr val="bg2"/>
          </a:solidFill>
          <a:ln/>
        </p:spPr>
      </p:sp>
      <p:pic>
        <p:nvPicPr>
          <p:cNvPr id="19" name="icon question_o" descr="question_o icon"/>
          <p:cNvPicPr>
            <a:picLocks noChangeAspect="1"/>
          </p:cNvPicPr>
          <p:nvPr/>
        </p:nvPicPr>
        <p:blipFill>
          <a:blip r:embed="rId5"/>
          <a:stretch>
            <a:fillRect/>
          </a:stretch>
        </p:blipFill>
        <p:spPr>
          <a:xfrm>
            <a:off x="9006840" y="2843784"/>
            <a:ext cx="182880" cy="182880"/>
          </a:xfrm>
          <a:prstGeom prst="rect">
            <a:avLst/>
          </a:prstGeom>
        </p:spPr>
      </p:pic>
      <p:sp>
        <p:nvSpPr>
          <p:cNvPr id="20" name="Text 13"/>
          <p:cNvSpPr txBox="1"/>
          <p:nvPr/>
        </p:nvSpPr>
        <p:spPr>
          <a:xfrm>
            <a:off x="9418320" y="2752344"/>
            <a:ext cx="2377440" cy="365760"/>
          </a:xfrm>
          <a:prstGeom prst="rect">
            <a:avLst/>
          </a:prstGeom>
          <a:noFill/>
          <a:ln/>
        </p:spPr>
        <p:txBody>
          <a:bodyPr wrap="square" lIns="0" tIns="0" rIns="0" bIns="0" rtlCol="0" anchor="ctr"/>
          <a:lstStyle/>
          <a:p>
            <a:pPr marL="0" indent="0">
              <a:buNone/>
            </a:pPr>
            <a:r>
              <a:rPr lang="en-US" sz="1400" dirty="0">
                <a:solidFill>
                  <a:schemeClr val="tx1"/>
                </a:solidFill>
              </a:rPr>
              <a:t>Dedicated master arm?</a:t>
            </a:r>
            <a:endParaRPr lang="en-US" sz="1400" dirty="0"/>
          </a:p>
        </p:txBody>
      </p:sp>
      <p:sp>
        <p:nvSpPr>
          <p:cNvPr id="21" name="Text 14"/>
          <p:cNvSpPr txBox="1"/>
          <p:nvPr/>
        </p:nvSpPr>
        <p:spPr>
          <a:xfrm>
            <a:off x="548640" y="4206240"/>
            <a:ext cx="1417320" cy="1371600"/>
          </a:xfrm>
          <a:prstGeom prst="rect">
            <a:avLst/>
          </a:prstGeom>
          <a:noFill/>
          <a:ln/>
        </p:spPr>
        <p:txBody>
          <a:bodyPr wrap="square" lIns="0" tIns="0" rIns="0" bIns="0" rtlCol="0" anchor="ctr"/>
          <a:lstStyle/>
          <a:p>
            <a:pPr marL="0" indent="0">
              <a:buNone/>
            </a:pPr>
            <a:r>
              <a:rPr lang="en-US" sz="1700" b="1" dirty="0">
                <a:solidFill>
                  <a:schemeClr val="accent1"/>
                </a:solidFill>
              </a:rPr>
              <a:t>Ours</a:t>
            </a:r>
            <a:endParaRPr lang="en-US" sz="1700" dirty="0"/>
          </a:p>
        </p:txBody>
      </p:sp>
      <p:pic>
        <p:nvPicPr>
          <p:cNvPr id="22" name="master arm input" descr="master arm input"/>
          <p:cNvPicPr>
            <a:picLocks noChangeAspect="1"/>
          </p:cNvPicPr>
          <p:nvPr/>
        </p:nvPicPr>
        <p:blipFill>
          <a:blip r:embed="rId6"/>
          <a:stretch>
            <a:fillRect/>
          </a:stretch>
        </p:blipFill>
        <p:spPr>
          <a:xfrm>
            <a:off x="2357120" y="4206240"/>
            <a:ext cx="1137920" cy="640080"/>
          </a:xfrm>
          <a:prstGeom prst="rect">
            <a:avLst/>
          </a:prstGeom>
        </p:spPr>
      </p:pic>
      <p:pic>
        <p:nvPicPr>
          <p:cNvPr id="23" name="smartphone input" descr="smartphone input"/>
          <p:cNvPicPr>
            <a:picLocks noChangeAspect="1"/>
          </p:cNvPicPr>
          <p:nvPr/>
        </p:nvPicPr>
        <p:blipFill>
          <a:blip r:embed="rId7"/>
          <a:stretch>
            <a:fillRect/>
          </a:stretch>
        </p:blipFill>
        <p:spPr>
          <a:xfrm>
            <a:off x="2357120" y="4937760"/>
            <a:ext cx="1137920" cy="640080"/>
          </a:xfrm>
          <a:prstGeom prst="rect">
            <a:avLst/>
          </a:prstGeom>
        </p:spPr>
      </p:pic>
      <p:sp>
        <p:nvSpPr>
          <p:cNvPr id="24" name="arrow"/>
          <p:cNvSpPr/>
          <p:nvPr/>
        </p:nvSpPr>
        <p:spPr>
          <a:xfrm>
            <a:off x="3931920" y="4754880"/>
            <a:ext cx="365760" cy="274320"/>
          </a:xfrm>
          <a:prstGeom prst="rightArrow">
            <a:avLst/>
          </a:prstGeom>
          <a:solidFill>
            <a:schemeClr val="tx2"/>
          </a:solidFill>
          <a:ln/>
        </p:spPr>
      </p:sp>
      <p:sp>
        <p:nvSpPr>
          <p:cNvPr id="25" name="QP scheme box"/>
          <p:cNvSpPr/>
          <p:nvPr/>
        </p:nvSpPr>
        <p:spPr>
          <a:xfrm>
            <a:off x="4389120" y="4206240"/>
            <a:ext cx="2194560" cy="1371600"/>
          </a:xfrm>
          <a:prstGeom prst="roundRect">
            <a:avLst>
              <a:gd name="adj" fmla="val 6667"/>
            </a:avLst>
          </a:prstGeom>
          <a:solidFill>
            <a:schemeClr val="bg1"/>
          </a:solidFill>
          <a:ln w="19050">
            <a:solidFill>
              <a:schemeClr val="accent1"/>
            </a:solidFill>
            <a:prstDash val="solid"/>
          </a:ln>
        </p:spPr>
      </p:sp>
      <p:sp>
        <p:nvSpPr>
          <p:cNvPr id="26" name="Text 17"/>
          <p:cNvSpPr txBox="1"/>
          <p:nvPr/>
        </p:nvSpPr>
        <p:spPr>
          <a:xfrm>
            <a:off x="4389120" y="4389120"/>
            <a:ext cx="2194560" cy="320040"/>
          </a:xfrm>
          <a:prstGeom prst="rect">
            <a:avLst/>
          </a:prstGeom>
          <a:noFill/>
          <a:ln/>
        </p:spPr>
        <p:txBody>
          <a:bodyPr wrap="square" lIns="0" tIns="0" rIns="0" bIns="0" rtlCol="0" anchor="t"/>
          <a:lstStyle/>
          <a:p>
            <a:pPr marL="0" indent="0" algn="ctr">
              <a:buNone/>
            </a:pPr>
            <a:r>
              <a:rPr lang="en-US" sz="1300" dirty="0">
                <a:solidFill>
                  <a:schemeClr val="tx2"/>
                </a:solidFill>
              </a:rPr>
              <a:t>Desired pose →</a:t>
            </a:r>
            <a:endParaRPr lang="en-US" sz="1300" dirty="0"/>
          </a:p>
        </p:txBody>
      </p:sp>
      <p:sp>
        <p:nvSpPr>
          <p:cNvPr id="27" name="Text 18"/>
          <p:cNvSpPr txBox="1"/>
          <p:nvPr/>
        </p:nvSpPr>
        <p:spPr>
          <a:xfrm>
            <a:off x="4480560" y="4754880"/>
            <a:ext cx="2011680" cy="640080"/>
          </a:xfrm>
          <a:prstGeom prst="rect">
            <a:avLst/>
          </a:prstGeom>
          <a:noFill/>
          <a:ln/>
        </p:spPr>
        <p:txBody>
          <a:bodyPr wrap="square" lIns="0" tIns="0" rIns="0" bIns="0" rtlCol="0" anchor="ctr"/>
          <a:lstStyle/>
          <a:p>
            <a:pPr marL="0" indent="0" algn="ctr">
              <a:buNone/>
            </a:pPr>
            <a:r>
              <a:rPr lang="en-US" sz="1500" b="1" dirty="0">
                <a:solidFill>
                  <a:schemeClr val="accent1"/>
                </a:solidFill>
              </a:rPr>
              <a:t>QP + projection neural network</a:t>
            </a:r>
            <a:endParaRPr lang="en-US" sz="1500" dirty="0"/>
          </a:p>
        </p:txBody>
      </p:sp>
      <p:sp>
        <p:nvSpPr>
          <p:cNvPr id="28" name="arrow"/>
          <p:cNvSpPr/>
          <p:nvPr/>
        </p:nvSpPr>
        <p:spPr>
          <a:xfrm>
            <a:off x="6675120" y="4754880"/>
            <a:ext cx="365760" cy="274320"/>
          </a:xfrm>
          <a:prstGeom prst="rightArrow">
            <a:avLst/>
          </a:prstGeom>
          <a:solidFill>
            <a:schemeClr val="tx2"/>
          </a:solidFill>
          <a:ln/>
        </p:spPr>
      </p:sp>
      <p:pic>
        <p:nvPicPr>
          <p:cNvPr id="29" name="Piper slave arm" descr="Piper slave arm"/>
          <p:cNvPicPr>
            <a:picLocks noChangeAspect="1"/>
          </p:cNvPicPr>
          <p:nvPr/>
        </p:nvPicPr>
        <p:blipFill>
          <a:blip r:embed="rId4"/>
          <a:stretch>
            <a:fillRect/>
          </a:stretch>
        </p:blipFill>
        <p:spPr>
          <a:xfrm>
            <a:off x="7132320" y="4206240"/>
            <a:ext cx="1828800" cy="1371600"/>
          </a:xfrm>
          <a:prstGeom prst="rect">
            <a:avLst/>
          </a:prstGeom>
        </p:spPr>
      </p:pic>
      <p:sp>
        <p:nvSpPr>
          <p:cNvPr id="30" name="icon circle check"/>
          <p:cNvSpPr/>
          <p:nvPr/>
        </p:nvSpPr>
        <p:spPr>
          <a:xfrm>
            <a:off x="8915400" y="4251960"/>
            <a:ext cx="365760" cy="365760"/>
          </a:xfrm>
          <a:prstGeom prst="ellipse">
            <a:avLst/>
          </a:prstGeom>
          <a:solidFill>
            <a:schemeClr val="accent6"/>
          </a:solidFill>
          <a:ln/>
        </p:spPr>
      </p:sp>
      <p:pic>
        <p:nvPicPr>
          <p:cNvPr id="31" name="icon check" descr="check icon"/>
          <p:cNvPicPr>
            <a:picLocks noChangeAspect="1"/>
          </p:cNvPicPr>
          <p:nvPr/>
        </p:nvPicPr>
        <p:blipFill>
          <a:blip r:embed="rId8"/>
          <a:stretch>
            <a:fillRect/>
          </a:stretch>
        </p:blipFill>
        <p:spPr>
          <a:xfrm>
            <a:off x="9006840" y="4343400"/>
            <a:ext cx="182880" cy="182880"/>
          </a:xfrm>
          <a:prstGeom prst="rect">
            <a:avLst/>
          </a:prstGeom>
        </p:spPr>
      </p:pic>
      <p:sp>
        <p:nvSpPr>
          <p:cNvPr id="32" name="Text 21"/>
          <p:cNvSpPr txBox="1"/>
          <p:nvPr/>
        </p:nvSpPr>
        <p:spPr>
          <a:xfrm>
            <a:off x="9418320" y="4251960"/>
            <a:ext cx="2377440" cy="365760"/>
          </a:xfrm>
          <a:prstGeom prst="rect">
            <a:avLst/>
          </a:prstGeom>
          <a:noFill/>
          <a:ln/>
        </p:spPr>
        <p:txBody>
          <a:bodyPr wrap="square" lIns="0" tIns="0" rIns="0" bIns="0" rtlCol="0" anchor="ctr"/>
          <a:lstStyle/>
          <a:p>
            <a:pPr marL="0" indent="0">
              <a:buNone/>
            </a:pPr>
            <a:r>
              <a:rPr lang="en-US" sz="1400" dirty="0">
                <a:solidFill>
                  <a:schemeClr val="tx1"/>
                </a:solidFill>
              </a:rPr>
              <a:t>No joint correspondence</a:t>
            </a:r>
            <a:endParaRPr lang="en-US" sz="1400" dirty="0"/>
          </a:p>
        </p:txBody>
      </p:sp>
      <p:sp>
        <p:nvSpPr>
          <p:cNvPr id="33" name="icon circle check"/>
          <p:cNvSpPr/>
          <p:nvPr/>
        </p:nvSpPr>
        <p:spPr>
          <a:xfrm>
            <a:off x="8915400" y="4690872"/>
            <a:ext cx="365760" cy="365760"/>
          </a:xfrm>
          <a:prstGeom prst="ellipse">
            <a:avLst/>
          </a:prstGeom>
          <a:solidFill>
            <a:schemeClr val="accent6"/>
          </a:solidFill>
          <a:ln/>
        </p:spPr>
      </p:sp>
      <p:pic>
        <p:nvPicPr>
          <p:cNvPr id="34" name="icon check" descr="check icon"/>
          <p:cNvPicPr>
            <a:picLocks noChangeAspect="1"/>
          </p:cNvPicPr>
          <p:nvPr/>
        </p:nvPicPr>
        <p:blipFill>
          <a:blip r:embed="rId8"/>
          <a:stretch>
            <a:fillRect/>
          </a:stretch>
        </p:blipFill>
        <p:spPr>
          <a:xfrm>
            <a:off x="9006840" y="4782312"/>
            <a:ext cx="182880" cy="182880"/>
          </a:xfrm>
          <a:prstGeom prst="rect">
            <a:avLst/>
          </a:prstGeom>
        </p:spPr>
      </p:pic>
      <p:sp>
        <p:nvSpPr>
          <p:cNvPr id="35" name="Text 23"/>
          <p:cNvSpPr txBox="1"/>
          <p:nvPr/>
        </p:nvSpPr>
        <p:spPr>
          <a:xfrm>
            <a:off x="9418320" y="4690872"/>
            <a:ext cx="2377440" cy="365760"/>
          </a:xfrm>
          <a:prstGeom prst="rect">
            <a:avLst/>
          </a:prstGeom>
          <a:noFill/>
          <a:ln/>
        </p:spPr>
        <p:txBody>
          <a:bodyPr wrap="square" lIns="0" tIns="0" rIns="0" bIns="0" rtlCol="0" anchor="ctr"/>
          <a:lstStyle/>
          <a:p>
            <a:pPr marL="0" indent="0">
              <a:buNone/>
            </a:pPr>
            <a:r>
              <a:rPr lang="en-US" sz="1400" dirty="0">
                <a:solidFill>
                  <a:schemeClr val="tx1"/>
                </a:solidFill>
              </a:rPr>
              <a:t>Joint limits at every instant</a:t>
            </a:r>
            <a:endParaRPr lang="en-US" sz="1400" dirty="0"/>
          </a:p>
        </p:txBody>
      </p:sp>
      <p:sp>
        <p:nvSpPr>
          <p:cNvPr id="36" name="icon circle check"/>
          <p:cNvSpPr/>
          <p:nvPr/>
        </p:nvSpPr>
        <p:spPr>
          <a:xfrm>
            <a:off x="8915400" y="5129784"/>
            <a:ext cx="365760" cy="365760"/>
          </a:xfrm>
          <a:prstGeom prst="ellipse">
            <a:avLst/>
          </a:prstGeom>
          <a:solidFill>
            <a:schemeClr val="accent6"/>
          </a:solidFill>
          <a:ln/>
        </p:spPr>
      </p:sp>
      <p:pic>
        <p:nvPicPr>
          <p:cNvPr id="37" name="icon check" descr="check icon"/>
          <p:cNvPicPr>
            <a:picLocks noChangeAspect="1"/>
          </p:cNvPicPr>
          <p:nvPr/>
        </p:nvPicPr>
        <p:blipFill>
          <a:blip r:embed="rId8"/>
          <a:stretch>
            <a:fillRect/>
          </a:stretch>
        </p:blipFill>
        <p:spPr>
          <a:xfrm>
            <a:off x="9006840" y="5221224"/>
            <a:ext cx="182880" cy="182880"/>
          </a:xfrm>
          <a:prstGeom prst="rect">
            <a:avLst/>
          </a:prstGeom>
        </p:spPr>
      </p:pic>
      <p:sp>
        <p:nvSpPr>
          <p:cNvPr id="38" name="Text 25"/>
          <p:cNvSpPr txBox="1"/>
          <p:nvPr/>
        </p:nvSpPr>
        <p:spPr>
          <a:xfrm>
            <a:off x="9418320" y="5129784"/>
            <a:ext cx="2377440" cy="365760"/>
          </a:xfrm>
          <a:prstGeom prst="rect">
            <a:avLst/>
          </a:prstGeom>
          <a:noFill/>
          <a:ln/>
        </p:spPr>
        <p:txBody>
          <a:bodyPr wrap="square" lIns="0" tIns="0" rIns="0" bIns="0" rtlCol="0" anchor="ctr"/>
          <a:lstStyle/>
          <a:p>
            <a:pPr marL="0" indent="0">
              <a:buNone/>
            </a:pPr>
            <a:r>
              <a:rPr lang="en-US" sz="1400" dirty="0">
                <a:solidFill>
                  <a:schemeClr val="tx1"/>
                </a:solidFill>
              </a:rPr>
              <a:t>Smartphone as input</a:t>
            </a:r>
            <a:endParaRPr lang="en-US" sz="1400" dirty="0"/>
          </a:p>
        </p:txBody>
      </p:sp>
      <p:sp>
        <p:nvSpPr>
          <p:cNvPr id="39" name="Text 26"/>
          <p:cNvSpPr txBox="1"/>
          <p:nvPr/>
        </p:nvSpPr>
        <p:spPr>
          <a:xfrm>
            <a:off x="2011680" y="3246120"/>
            <a:ext cx="1828800" cy="457200"/>
          </a:xfrm>
          <a:prstGeom prst="rect">
            <a:avLst/>
          </a:prstGeom>
          <a:noFill/>
          <a:ln/>
        </p:spPr>
        <p:txBody>
          <a:bodyPr wrap="square" lIns="0" tIns="0" rIns="0" bIns="0" rtlCol="0" anchor="t"/>
          <a:lstStyle/>
          <a:p>
            <a:pPr marL="0" indent="0" algn="ctr">
              <a:buNone/>
            </a:pPr>
            <a:r>
              <a:rPr lang="en-US" sz="1100" dirty="0">
                <a:solidFill>
                  <a:schemeClr val="tx2"/>
                </a:solidFill>
              </a:rPr>
              <a:t>master arm</a:t>
            </a:r>
            <a:endParaRPr lang="en-US" sz="1100" dirty="0"/>
          </a:p>
        </p:txBody>
      </p:sp>
      <p:sp>
        <p:nvSpPr>
          <p:cNvPr id="40" name="Text 27"/>
          <p:cNvSpPr txBox="1"/>
          <p:nvPr/>
        </p:nvSpPr>
        <p:spPr>
          <a:xfrm>
            <a:off x="6355080" y="3246120"/>
            <a:ext cx="2194560" cy="457200"/>
          </a:xfrm>
          <a:prstGeom prst="rect">
            <a:avLst/>
          </a:prstGeom>
          <a:noFill/>
          <a:ln/>
        </p:spPr>
        <p:txBody>
          <a:bodyPr wrap="square" lIns="0" tIns="0" rIns="0" bIns="0" rtlCol="0" anchor="t"/>
          <a:lstStyle/>
          <a:p>
            <a:pPr marL="0" indent="0" algn="ctr">
              <a:buNone/>
            </a:pPr>
            <a:r>
              <a:rPr lang="en-US" sz="1100" dirty="0">
                <a:solidFill>
                  <a:schemeClr val="tx2"/>
                </a:solidFill>
              </a:rPr>
              <a:t>slave arm + mannequin head</a:t>
            </a:r>
            <a:endParaRPr lang="en-US" sz="1100" dirty="0"/>
          </a:p>
        </p:txBody>
      </p:sp>
      <p:sp>
        <p:nvSpPr>
          <p:cNvPr id="41" name="Text 28"/>
          <p:cNvSpPr txBox="1"/>
          <p:nvPr/>
        </p:nvSpPr>
        <p:spPr>
          <a:xfrm>
            <a:off x="1783080" y="5623560"/>
            <a:ext cx="2286000" cy="457200"/>
          </a:xfrm>
          <a:prstGeom prst="rect">
            <a:avLst/>
          </a:prstGeom>
          <a:noFill/>
          <a:ln/>
        </p:spPr>
        <p:txBody>
          <a:bodyPr wrap="square" lIns="0" tIns="0" rIns="0" bIns="0" rtlCol="0" anchor="t"/>
          <a:lstStyle/>
          <a:p>
            <a:pPr marL="0" indent="0" algn="ctr">
              <a:buNone/>
            </a:pPr>
            <a:r>
              <a:rPr lang="en-US" sz="1100" dirty="0">
                <a:solidFill>
                  <a:schemeClr val="tx2"/>
                </a:solidFill>
              </a:rPr>
              <a:t>master arm or smartphone</a:t>
            </a:r>
            <a:endParaRPr lang="en-US" sz="1100" dirty="0"/>
          </a:p>
        </p:txBody>
      </p:sp>
      <p:sp>
        <p:nvSpPr>
          <p:cNvPr id="42"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Why Teleoperation for Haircutting Is Hard</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The command must be realized by a different arm, near the head, within every sampling interval.</a:t>
            </a:r>
            <a:endParaRPr lang="en-US" sz="1500" dirty="0"/>
          </a:p>
        </p:txBody>
      </p:sp>
      <p:sp>
        <p:nvSpPr>
          <p:cNvPr id="4" name="illustration panel"/>
          <p:cNvSpPr/>
          <p:nvPr/>
        </p:nvSpPr>
        <p:spPr>
          <a:xfrm>
            <a:off x="548640" y="1600200"/>
            <a:ext cx="3429000" cy="1325880"/>
          </a:xfrm>
          <a:prstGeom prst="roundRect">
            <a:avLst>
              <a:gd name="adj" fmla="val 5517"/>
            </a:avLst>
          </a:prstGeom>
          <a:solidFill>
            <a:schemeClr val="bg2"/>
          </a:solidFill>
          <a:ln/>
        </p:spPr>
      </p:sp>
      <p:pic>
        <p:nvPicPr>
          <p:cNvPr id="5" name="Heterogeneous arms illustration" descr="Heterogeneous arms illustration"/>
          <p:cNvPicPr>
            <a:picLocks noChangeAspect="1"/>
          </p:cNvPicPr>
          <p:nvPr/>
        </p:nvPicPr>
        <p:blipFill>
          <a:blip r:embed="rId3"/>
          <a:stretch>
            <a:fillRect/>
          </a:stretch>
        </p:blipFill>
        <p:spPr>
          <a:xfrm>
            <a:off x="1120140" y="1691640"/>
            <a:ext cx="2286000" cy="1143000"/>
          </a:xfrm>
          <a:prstGeom prst="rect">
            <a:avLst/>
          </a:prstGeom>
        </p:spPr>
      </p:pic>
      <p:sp>
        <p:nvSpPr>
          <p:cNvPr id="6" name="badge"/>
          <p:cNvSpPr/>
          <p:nvPr/>
        </p:nvSpPr>
        <p:spPr>
          <a:xfrm>
            <a:off x="548640" y="3108960"/>
            <a:ext cx="384048" cy="384048"/>
          </a:xfrm>
          <a:prstGeom prst="ellipse">
            <a:avLst/>
          </a:prstGeom>
          <a:solidFill>
            <a:schemeClr val="accent1"/>
          </a:solidFill>
          <a:ln/>
        </p:spPr>
      </p:sp>
      <p:sp>
        <p:nvSpPr>
          <p:cNvPr id="7" name="Text 4"/>
          <p:cNvSpPr txBox="1"/>
          <p:nvPr/>
        </p:nvSpPr>
        <p:spPr>
          <a:xfrm>
            <a:off x="548640" y="31089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1097280" y="3127248"/>
            <a:ext cx="2880360" cy="365760"/>
          </a:xfrm>
          <a:prstGeom prst="rect">
            <a:avLst/>
          </a:prstGeom>
          <a:noFill/>
          <a:ln/>
        </p:spPr>
        <p:txBody>
          <a:bodyPr wrap="square" lIns="0" tIns="0" rIns="0" bIns="0" rtlCol="0" anchor="ctr"/>
          <a:lstStyle/>
          <a:p>
            <a:pPr marL="0" indent="0">
              <a:buNone/>
            </a:pPr>
            <a:r>
              <a:rPr lang="en-US" sz="1800" b="1" dirty="0">
                <a:solidFill>
                  <a:schemeClr val="tx1"/>
                </a:solidFill>
              </a:rPr>
              <a:t>Heterogeneous arms</a:t>
            </a:r>
            <a:endParaRPr lang="en-US" sz="1800" dirty="0"/>
          </a:p>
        </p:txBody>
      </p:sp>
      <p:sp>
        <p:nvSpPr>
          <p:cNvPr id="9" name="Text 6"/>
          <p:cNvSpPr txBox="1"/>
          <p:nvPr/>
        </p:nvSpPr>
        <p:spPr>
          <a:xfrm>
            <a:off x="548640" y="3611880"/>
            <a:ext cx="3429000" cy="685800"/>
          </a:xfrm>
          <a:prstGeom prst="rect">
            <a:avLst/>
          </a:prstGeom>
          <a:noFill/>
          <a:ln/>
        </p:spPr>
        <p:txBody>
          <a:bodyPr wrap="square" lIns="0" tIns="0" rIns="0" bIns="0" rtlCol="0" anchor="t"/>
          <a:lstStyle/>
          <a:p>
            <a:pPr marL="0" indent="0">
              <a:buNone/>
            </a:pPr>
            <a:r>
              <a:rPr lang="en-US" sz="3600" b="1" dirty="0">
                <a:solidFill>
                  <a:schemeClr val="accent1"/>
                </a:solidFill>
              </a:rPr>
              <a:t>SO101 ≠ Piper</a:t>
            </a:r>
            <a:endParaRPr lang="en-US" sz="3600" dirty="0"/>
          </a:p>
        </p:txBody>
      </p:sp>
      <p:sp>
        <p:nvSpPr>
          <p:cNvPr id="10" name="Text 7"/>
          <p:cNvSpPr txBox="1"/>
          <p:nvPr/>
        </p:nvSpPr>
        <p:spPr>
          <a:xfrm>
            <a:off x="548640" y="4297680"/>
            <a:ext cx="3429000" cy="320040"/>
          </a:xfrm>
          <a:prstGeom prst="rect">
            <a:avLst/>
          </a:prstGeom>
          <a:noFill/>
          <a:ln/>
        </p:spPr>
        <p:txBody>
          <a:bodyPr wrap="square" lIns="0" tIns="0" rIns="0" bIns="0" rtlCol="0" anchor="t"/>
          <a:lstStyle/>
          <a:p>
            <a:pPr marL="0" indent="0">
              <a:buNone/>
            </a:pPr>
            <a:r>
              <a:rPr lang="en-US" sz="1300" dirty="0">
                <a:solidFill>
                  <a:schemeClr val="tx2"/>
                </a:solidFill>
              </a:rPr>
              <a:t>different joint arrangements and workspaces</a:t>
            </a:r>
            <a:endParaRPr lang="en-US" sz="1300" dirty="0"/>
          </a:p>
        </p:txBody>
      </p:sp>
      <p:sp>
        <p:nvSpPr>
          <p:cNvPr id="11" name="Text 8"/>
          <p:cNvSpPr txBox="1"/>
          <p:nvPr/>
        </p:nvSpPr>
        <p:spPr>
          <a:xfrm>
            <a:off x="548640" y="4663440"/>
            <a:ext cx="3429000" cy="548640"/>
          </a:xfrm>
          <a:prstGeom prst="rect">
            <a:avLst/>
          </a:prstGeom>
          <a:noFill/>
          <a:ln/>
        </p:spPr>
        <p:txBody>
          <a:bodyPr wrap="square" lIns="0" tIns="0" rIns="0" bIns="0" rtlCol="0" anchor="t"/>
          <a:lstStyle/>
          <a:p>
            <a:pPr marL="0" indent="0">
              <a:buNone/>
            </a:pPr>
            <a:r>
              <a:rPr lang="en-US" sz="1400" dirty="0">
                <a:solidFill>
                  <a:schemeClr val="tx1"/>
                </a:solidFill>
              </a:rPr>
              <a:t>The operator's command cannot be mapped joint by joint.</a:t>
            </a:r>
            <a:endParaRPr lang="en-US" sz="1400" dirty="0"/>
          </a:p>
        </p:txBody>
      </p:sp>
      <p:sp>
        <p:nvSpPr>
          <p:cNvPr id="12" name="illustration panel"/>
          <p:cNvSpPr/>
          <p:nvPr/>
        </p:nvSpPr>
        <p:spPr>
          <a:xfrm>
            <a:off x="4343400" y="1600200"/>
            <a:ext cx="3429000" cy="1325880"/>
          </a:xfrm>
          <a:prstGeom prst="roundRect">
            <a:avLst>
              <a:gd name="adj" fmla="val 5517"/>
            </a:avLst>
          </a:prstGeom>
          <a:solidFill>
            <a:schemeClr val="bg2"/>
          </a:solidFill>
          <a:ln/>
        </p:spPr>
      </p:sp>
      <p:pic>
        <p:nvPicPr>
          <p:cNvPr id="13" name="Dedicated input device illustration" descr="Dedicated input device illustration"/>
          <p:cNvPicPr>
            <a:picLocks noChangeAspect="1"/>
          </p:cNvPicPr>
          <p:nvPr/>
        </p:nvPicPr>
        <p:blipFill>
          <a:blip r:embed="rId4"/>
          <a:stretch>
            <a:fillRect/>
          </a:stretch>
        </p:blipFill>
        <p:spPr>
          <a:xfrm>
            <a:off x="5021701" y="1691640"/>
            <a:ext cx="2072398" cy="1143000"/>
          </a:xfrm>
          <a:prstGeom prst="rect">
            <a:avLst/>
          </a:prstGeom>
        </p:spPr>
      </p:pic>
      <p:sp>
        <p:nvSpPr>
          <p:cNvPr id="14" name="badge"/>
          <p:cNvSpPr/>
          <p:nvPr/>
        </p:nvSpPr>
        <p:spPr>
          <a:xfrm>
            <a:off x="4343400" y="3108960"/>
            <a:ext cx="384048" cy="384048"/>
          </a:xfrm>
          <a:prstGeom prst="ellipse">
            <a:avLst/>
          </a:prstGeom>
          <a:solidFill>
            <a:schemeClr val="accent1"/>
          </a:solidFill>
          <a:ln/>
        </p:spPr>
      </p:sp>
      <p:sp>
        <p:nvSpPr>
          <p:cNvPr id="15" name="Text 11"/>
          <p:cNvSpPr txBox="1"/>
          <p:nvPr/>
        </p:nvSpPr>
        <p:spPr>
          <a:xfrm>
            <a:off x="4343400" y="31089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6" name="Text 12"/>
          <p:cNvSpPr txBox="1"/>
          <p:nvPr/>
        </p:nvSpPr>
        <p:spPr>
          <a:xfrm>
            <a:off x="4892040" y="3127248"/>
            <a:ext cx="2880360" cy="365760"/>
          </a:xfrm>
          <a:prstGeom prst="rect">
            <a:avLst/>
          </a:prstGeom>
          <a:noFill/>
          <a:ln/>
        </p:spPr>
        <p:txBody>
          <a:bodyPr wrap="square" lIns="0" tIns="0" rIns="0" bIns="0" rtlCol="0" anchor="ctr"/>
          <a:lstStyle/>
          <a:p>
            <a:pPr marL="0" indent="0">
              <a:buNone/>
            </a:pPr>
            <a:r>
              <a:rPr lang="en-US" sz="1800" b="1" dirty="0">
                <a:solidFill>
                  <a:schemeClr val="tx1"/>
                </a:solidFill>
              </a:rPr>
              <a:t>Dedicated input device</a:t>
            </a:r>
            <a:endParaRPr lang="en-US" sz="1800" dirty="0"/>
          </a:p>
        </p:txBody>
      </p:sp>
      <p:sp>
        <p:nvSpPr>
          <p:cNvPr id="17" name="Text 13"/>
          <p:cNvSpPr txBox="1"/>
          <p:nvPr/>
        </p:nvSpPr>
        <p:spPr>
          <a:xfrm>
            <a:off x="4343400" y="3611880"/>
            <a:ext cx="3429000" cy="685800"/>
          </a:xfrm>
          <a:prstGeom prst="rect">
            <a:avLst/>
          </a:prstGeom>
          <a:noFill/>
          <a:ln/>
        </p:spPr>
        <p:txBody>
          <a:bodyPr wrap="square" lIns="0" tIns="0" rIns="0" bIns="0" rtlCol="0" anchor="t"/>
          <a:lstStyle/>
          <a:p>
            <a:pPr marL="0" indent="0">
              <a:buNone/>
            </a:pPr>
            <a:r>
              <a:rPr lang="en-US" sz="3600" b="1" dirty="0">
                <a:solidFill>
                  <a:schemeClr val="accent1"/>
                </a:solidFill>
              </a:rPr>
              <a:t>1 arm / site</a:t>
            </a:r>
            <a:endParaRPr lang="en-US" sz="3600" dirty="0"/>
          </a:p>
        </p:txBody>
      </p:sp>
      <p:sp>
        <p:nvSpPr>
          <p:cNvPr id="18" name="Text 14"/>
          <p:cNvSpPr txBox="1"/>
          <p:nvPr/>
        </p:nvSpPr>
        <p:spPr>
          <a:xfrm>
            <a:off x="4343400" y="4297680"/>
            <a:ext cx="3429000" cy="320040"/>
          </a:xfrm>
          <a:prstGeom prst="rect">
            <a:avLst/>
          </a:prstGeom>
          <a:noFill/>
          <a:ln/>
        </p:spPr>
        <p:txBody>
          <a:bodyPr wrap="square" lIns="0" tIns="0" rIns="0" bIns="0" rtlCol="0" anchor="t"/>
          <a:lstStyle/>
          <a:p>
            <a:pPr marL="0" indent="0">
              <a:buNone/>
            </a:pPr>
            <a:r>
              <a:rPr lang="en-US" sz="1300" dirty="0">
                <a:solidFill>
                  <a:schemeClr val="tx2"/>
                </a:solidFill>
              </a:rPr>
              <a:t>a dedicated master arm at each operator site</a:t>
            </a:r>
            <a:endParaRPr lang="en-US" sz="1300" dirty="0"/>
          </a:p>
        </p:txBody>
      </p:sp>
      <p:sp>
        <p:nvSpPr>
          <p:cNvPr id="19" name="Text 15"/>
          <p:cNvSpPr txBox="1"/>
          <p:nvPr/>
        </p:nvSpPr>
        <p:spPr>
          <a:xfrm>
            <a:off x="4343400" y="4663440"/>
            <a:ext cx="3429000" cy="548640"/>
          </a:xfrm>
          <a:prstGeom prst="rect">
            <a:avLst/>
          </a:prstGeom>
          <a:noFill/>
          <a:ln/>
        </p:spPr>
        <p:txBody>
          <a:bodyPr wrap="square" lIns="0" tIns="0" rIns="0" bIns="0" rtlCol="0" anchor="t"/>
          <a:lstStyle/>
          <a:p>
            <a:pPr marL="0" indent="0">
              <a:buNone/>
            </a:pPr>
            <a:r>
              <a:rPr lang="en-US" sz="1400" dirty="0">
                <a:solidFill>
                  <a:schemeClr val="tx1"/>
                </a:solidFill>
              </a:rPr>
              <a:t>The equipment cost limits access to remote haircutting.</a:t>
            </a:r>
            <a:endParaRPr lang="en-US" sz="1400" dirty="0"/>
          </a:p>
        </p:txBody>
      </p:sp>
      <p:sp>
        <p:nvSpPr>
          <p:cNvPr id="20" name="illustration panel"/>
          <p:cNvSpPr/>
          <p:nvPr/>
        </p:nvSpPr>
        <p:spPr>
          <a:xfrm>
            <a:off x="8138160" y="1600200"/>
            <a:ext cx="3429000" cy="1325880"/>
          </a:xfrm>
          <a:prstGeom prst="roundRect">
            <a:avLst>
              <a:gd name="adj" fmla="val 5517"/>
            </a:avLst>
          </a:prstGeom>
          <a:solidFill>
            <a:schemeClr val="bg2"/>
          </a:solidFill>
          <a:ln/>
        </p:spPr>
      </p:sp>
      <p:pic>
        <p:nvPicPr>
          <p:cNvPr id="21" name="Joint limits in real time illustration" descr="Joint limits in real time illustration"/>
          <p:cNvPicPr>
            <a:picLocks noChangeAspect="1"/>
          </p:cNvPicPr>
          <p:nvPr/>
        </p:nvPicPr>
        <p:blipFill>
          <a:blip r:embed="rId5"/>
          <a:stretch>
            <a:fillRect/>
          </a:stretch>
        </p:blipFill>
        <p:spPr>
          <a:xfrm>
            <a:off x="8723294" y="1691640"/>
            <a:ext cx="2258732" cy="1143000"/>
          </a:xfrm>
          <a:prstGeom prst="rect">
            <a:avLst/>
          </a:prstGeom>
        </p:spPr>
      </p:pic>
      <p:sp>
        <p:nvSpPr>
          <p:cNvPr id="22" name="badge"/>
          <p:cNvSpPr/>
          <p:nvPr/>
        </p:nvSpPr>
        <p:spPr>
          <a:xfrm>
            <a:off x="8138160" y="3108960"/>
            <a:ext cx="384048" cy="384048"/>
          </a:xfrm>
          <a:prstGeom prst="ellipse">
            <a:avLst/>
          </a:prstGeom>
          <a:solidFill>
            <a:schemeClr val="accent2"/>
          </a:solidFill>
          <a:ln/>
        </p:spPr>
      </p:sp>
      <p:sp>
        <p:nvSpPr>
          <p:cNvPr id="23" name="Text 18"/>
          <p:cNvSpPr txBox="1"/>
          <p:nvPr/>
        </p:nvSpPr>
        <p:spPr>
          <a:xfrm>
            <a:off x="8138160" y="31089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4" name="Text 19"/>
          <p:cNvSpPr txBox="1"/>
          <p:nvPr/>
        </p:nvSpPr>
        <p:spPr>
          <a:xfrm>
            <a:off x="8686800" y="3127248"/>
            <a:ext cx="2880360" cy="365760"/>
          </a:xfrm>
          <a:prstGeom prst="rect">
            <a:avLst/>
          </a:prstGeom>
          <a:noFill/>
          <a:ln/>
        </p:spPr>
        <p:txBody>
          <a:bodyPr wrap="square" lIns="0" tIns="0" rIns="0" bIns="0" rtlCol="0" anchor="ctr"/>
          <a:lstStyle/>
          <a:p>
            <a:pPr marL="0" indent="0">
              <a:buNone/>
            </a:pPr>
            <a:r>
              <a:rPr lang="en-US" sz="1800" b="1" dirty="0">
                <a:solidFill>
                  <a:schemeClr val="tx1"/>
                </a:solidFill>
              </a:rPr>
              <a:t>Joint limits in real time</a:t>
            </a:r>
            <a:endParaRPr lang="en-US" sz="1800" dirty="0"/>
          </a:p>
        </p:txBody>
      </p:sp>
      <p:sp>
        <p:nvSpPr>
          <p:cNvPr id="25" name="Text 20"/>
          <p:cNvSpPr txBox="1"/>
          <p:nvPr/>
        </p:nvSpPr>
        <p:spPr>
          <a:xfrm>
            <a:off x="8138160" y="3611880"/>
            <a:ext cx="3429000" cy="685800"/>
          </a:xfrm>
          <a:prstGeom prst="rect">
            <a:avLst/>
          </a:prstGeom>
          <a:noFill/>
          <a:ln/>
        </p:spPr>
        <p:txBody>
          <a:bodyPr wrap="square" lIns="0" tIns="0" rIns="0" bIns="0" rtlCol="0" anchor="t"/>
          <a:lstStyle/>
          <a:p>
            <a:pPr marL="0" indent="0">
              <a:buNone/>
            </a:pPr>
            <a:r>
              <a:rPr lang="en-US" sz="3600" b="1" dirty="0">
                <a:solidFill>
                  <a:schemeClr val="accent2"/>
                </a:solidFill>
              </a:rPr>
              <a:t>10 ms</a:t>
            </a:r>
            <a:endParaRPr lang="en-US" sz="3600" dirty="0"/>
          </a:p>
        </p:txBody>
      </p:sp>
      <p:sp>
        <p:nvSpPr>
          <p:cNvPr id="26" name="Text 21"/>
          <p:cNvSpPr txBox="1"/>
          <p:nvPr/>
        </p:nvSpPr>
        <p:spPr>
          <a:xfrm>
            <a:off x="8138160" y="4297680"/>
            <a:ext cx="3429000" cy="320040"/>
          </a:xfrm>
          <a:prstGeom prst="rect">
            <a:avLst/>
          </a:prstGeom>
          <a:noFill/>
          <a:ln/>
        </p:spPr>
        <p:txBody>
          <a:bodyPr wrap="square" lIns="0" tIns="0" rIns="0" bIns="0" rtlCol="0" anchor="t"/>
          <a:lstStyle/>
          <a:p>
            <a:pPr marL="0" indent="0">
              <a:buNone/>
            </a:pPr>
            <a:r>
              <a:rPr lang="en-US" sz="1300" dirty="0">
                <a:solidFill>
                  <a:schemeClr val="tx2"/>
                </a:solidFill>
              </a:rPr>
              <a:t>per time instant at 100 Hz</a:t>
            </a:r>
            <a:endParaRPr lang="en-US" sz="1300" dirty="0"/>
          </a:p>
        </p:txBody>
      </p:sp>
      <p:sp>
        <p:nvSpPr>
          <p:cNvPr id="27" name="Text 22"/>
          <p:cNvSpPr txBox="1"/>
          <p:nvPr/>
        </p:nvSpPr>
        <p:spPr>
          <a:xfrm>
            <a:off x="8138160" y="4663440"/>
            <a:ext cx="3429000" cy="548640"/>
          </a:xfrm>
          <a:prstGeom prst="rect">
            <a:avLst/>
          </a:prstGeom>
          <a:noFill/>
          <a:ln/>
        </p:spPr>
        <p:txBody>
          <a:bodyPr wrap="square" lIns="0" tIns="0" rIns="0" bIns="0" rtlCol="0" anchor="t"/>
          <a:lstStyle/>
          <a:p>
            <a:pPr marL="0" indent="0">
              <a:buNone/>
            </a:pPr>
            <a:r>
              <a:rPr lang="en-US" sz="1400" dirty="0">
                <a:solidFill>
                  <a:schemeClr val="tx1"/>
                </a:solidFill>
              </a:rPr>
              <a:t>Every joint command has to stay within the angle and velocity limits.</a:t>
            </a:r>
            <a:endParaRPr lang="en-US" sz="1400" dirty="0"/>
          </a:p>
        </p:txBody>
      </p:sp>
      <p:sp>
        <p:nvSpPr>
          <p:cNvPr id="28" name="consequence card"/>
          <p:cNvSpPr/>
          <p:nvPr/>
        </p:nvSpPr>
        <p:spPr>
          <a:xfrm>
            <a:off x="548640" y="5440680"/>
            <a:ext cx="11094415" cy="777240"/>
          </a:xfrm>
          <a:prstGeom prst="roundRect">
            <a:avLst>
              <a:gd name="adj" fmla="val 9412"/>
            </a:avLst>
          </a:prstGeom>
          <a:solidFill>
            <a:schemeClr val="bg2"/>
          </a:solidFill>
          <a:ln/>
        </p:spPr>
      </p:sp>
      <p:sp>
        <p:nvSpPr>
          <p:cNvPr id="29" name="Text 24"/>
          <p:cNvSpPr txBox="1"/>
          <p:nvPr/>
        </p:nvSpPr>
        <p:spPr>
          <a:xfrm>
            <a:off x="822960" y="5440680"/>
            <a:ext cx="10545775" cy="777240"/>
          </a:xfrm>
          <a:prstGeom prst="rect">
            <a:avLst/>
          </a:prstGeom>
          <a:noFill/>
          <a:ln/>
        </p:spPr>
        <p:txBody>
          <a:bodyPr wrap="square" lIns="0" tIns="0" rIns="0" bIns="0" rtlCol="0" anchor="ctr"/>
          <a:lstStyle/>
          <a:p>
            <a:pPr marL="0" indent="0">
              <a:buNone/>
            </a:pPr>
            <a:r>
              <a:rPr lang="en-US" sz="1500" b="1" dirty="0">
                <a:solidFill>
                  <a:schemeClr val="accent1"/>
                </a:solidFill>
              </a:rPr>
              <a:t>What we need: </a:t>
            </a:r>
            <a:r>
              <a:rPr lang="en-US" sz="1500" dirty="0">
                <a:solidFill>
                  <a:schemeClr val="tx1"/>
                </a:solidFill>
              </a:rPr>
              <a:t>a pose-level command that the slave realizes within its own joint limits, computed online, from any pose source.</a:t>
            </a:r>
            <a:endParaRPr lang="en-US" sz="1500" dirty="0"/>
          </a:p>
        </p:txBody>
      </p:sp>
      <p:sp>
        <p:nvSpPr>
          <p:cNvPr id="30"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Our Contributions</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To our knowledge, the first QP-based teleoperation scheme for robotic haircutting.</a:t>
            </a:r>
            <a:endParaRPr lang="en-US" sz="1500" dirty="0"/>
          </a:p>
        </p:txBody>
      </p:sp>
      <p:sp>
        <p:nvSpPr>
          <p:cNvPr id="4" name="QP-based scheme contribution"/>
          <p:cNvSpPr/>
          <p:nvPr/>
        </p:nvSpPr>
        <p:spPr>
          <a:xfrm>
            <a:off x="548640" y="1600200"/>
            <a:ext cx="3429000" cy="4572000"/>
          </a:xfrm>
          <a:prstGeom prst="roundRect">
            <a:avLst>
              <a:gd name="adj" fmla="val 2133"/>
            </a:avLst>
          </a:prstGeom>
          <a:solidFill>
            <a:schemeClr val="bg2"/>
          </a:solidFill>
          <a:ln/>
        </p:spPr>
      </p:sp>
      <p:sp>
        <p:nvSpPr>
          <p:cNvPr id="5" name="image frame"/>
          <p:cNvSpPr/>
          <p:nvPr/>
        </p:nvSpPr>
        <p:spPr>
          <a:xfrm>
            <a:off x="731520" y="1783080"/>
            <a:ext cx="3063240" cy="2377440"/>
          </a:xfrm>
          <a:prstGeom prst="rect">
            <a:avLst/>
          </a:prstGeom>
          <a:solidFill>
            <a:schemeClr val="bg1"/>
          </a:solidFill>
          <a:ln/>
        </p:spPr>
      </p:sp>
      <p:pic>
        <p:nvPicPr>
          <p:cNvPr id="6" name="Network iterates in the feasible box" descr="Network iterates in the feasible box"/>
          <p:cNvPicPr>
            <a:picLocks noChangeAspect="1"/>
          </p:cNvPicPr>
          <p:nvPr/>
        </p:nvPicPr>
        <p:blipFill>
          <a:blip r:embed="rId3"/>
          <a:stretch>
            <a:fillRect/>
          </a:stretch>
        </p:blipFill>
        <p:spPr>
          <a:xfrm>
            <a:off x="1027185" y="1828800"/>
            <a:ext cx="2471910" cy="2286000"/>
          </a:xfrm>
          <a:prstGeom prst="rect">
            <a:avLst/>
          </a:prstGeom>
        </p:spPr>
      </p:pic>
      <p:sp>
        <p:nvSpPr>
          <p:cNvPr id="7" name="badge"/>
          <p:cNvSpPr/>
          <p:nvPr/>
        </p:nvSpPr>
        <p:spPr>
          <a:xfrm>
            <a:off x="777240" y="4434840"/>
            <a:ext cx="384048" cy="384048"/>
          </a:xfrm>
          <a:prstGeom prst="ellipse">
            <a:avLst/>
          </a:prstGeom>
          <a:solidFill>
            <a:schemeClr val="accent1"/>
          </a:solidFill>
          <a:ln/>
        </p:spPr>
      </p:sp>
      <p:sp>
        <p:nvSpPr>
          <p:cNvPr id="8" name="Text 5"/>
          <p:cNvSpPr txBox="1"/>
          <p:nvPr/>
        </p:nvSpPr>
        <p:spPr>
          <a:xfrm>
            <a:off x="777240" y="44348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325880" y="4434840"/>
            <a:ext cx="2514600" cy="384048"/>
          </a:xfrm>
          <a:prstGeom prst="rect">
            <a:avLst/>
          </a:prstGeom>
          <a:noFill/>
          <a:ln/>
        </p:spPr>
        <p:txBody>
          <a:bodyPr wrap="square" lIns="0" tIns="0" rIns="0" bIns="0" rtlCol="0" anchor="ctr"/>
          <a:lstStyle/>
          <a:p>
            <a:pPr marL="0" indent="0">
              <a:buNone/>
            </a:pPr>
            <a:r>
              <a:rPr lang="en-US" sz="1900" b="1" dirty="0">
                <a:solidFill>
                  <a:schemeClr val="accent1"/>
                </a:solidFill>
              </a:rPr>
              <a:t>QP-based scheme</a:t>
            </a:r>
            <a:endParaRPr lang="en-US" sz="1900" dirty="0"/>
          </a:p>
        </p:txBody>
      </p:sp>
      <p:sp>
        <p:nvSpPr>
          <p:cNvPr id="10" name="Text 7"/>
          <p:cNvSpPr txBox="1"/>
          <p:nvPr/>
        </p:nvSpPr>
        <p:spPr>
          <a:xfrm>
            <a:off x="777240" y="4983480"/>
            <a:ext cx="2971800" cy="1005840"/>
          </a:xfrm>
          <a:prstGeom prst="rect">
            <a:avLst/>
          </a:prstGeom>
          <a:noFill/>
          <a:ln/>
        </p:spPr>
        <p:txBody>
          <a:bodyPr wrap="square" lIns="0" tIns="0" rIns="0" bIns="0" rtlCol="0" anchor="t"/>
          <a:lstStyle/>
          <a:p>
            <a:pPr marL="0" indent="0">
              <a:buNone/>
            </a:pPr>
            <a:r>
              <a:rPr lang="en-US" sz="1600" dirty="0">
                <a:solidFill>
                  <a:schemeClr val="tx1"/>
                </a:solidFill>
              </a:rPr>
              <a:t>Pose tracking within joint limits, solved online by a discrete-time projection neural network.</a:t>
            </a:r>
            <a:endParaRPr lang="en-US" sz="1600" dirty="0"/>
          </a:p>
        </p:txBody>
      </p:sp>
      <p:sp>
        <p:nvSpPr>
          <p:cNvPr id="11" name="Heterogeneous arms contribution"/>
          <p:cNvSpPr/>
          <p:nvPr/>
        </p:nvSpPr>
        <p:spPr>
          <a:xfrm>
            <a:off x="4343400" y="1600200"/>
            <a:ext cx="3429000" cy="4572000"/>
          </a:xfrm>
          <a:prstGeom prst="roundRect">
            <a:avLst>
              <a:gd name="adj" fmla="val 2133"/>
            </a:avLst>
          </a:prstGeom>
          <a:solidFill>
            <a:schemeClr val="bg2"/>
          </a:solidFill>
          <a:ln/>
        </p:spPr>
      </p:sp>
      <p:sp>
        <p:nvSpPr>
          <p:cNvPr id="12" name="image frame"/>
          <p:cNvSpPr/>
          <p:nvPr/>
        </p:nvSpPr>
        <p:spPr>
          <a:xfrm>
            <a:off x="4526280" y="1783080"/>
            <a:ext cx="3063240" cy="2377440"/>
          </a:xfrm>
          <a:prstGeom prst="rect">
            <a:avLst/>
          </a:prstGeom>
          <a:solidFill>
            <a:schemeClr val="bg1"/>
          </a:solidFill>
          <a:ln/>
        </p:spPr>
      </p:sp>
      <p:pic>
        <p:nvPicPr>
          <p:cNvPr id="13" name="SO101 master and Piper slave" descr="SO101 master and Piper slave"/>
          <p:cNvPicPr>
            <a:picLocks noChangeAspect="1"/>
          </p:cNvPicPr>
          <p:nvPr/>
        </p:nvPicPr>
        <p:blipFill>
          <a:blip r:embed="rId4"/>
          <a:stretch>
            <a:fillRect/>
          </a:stretch>
        </p:blipFill>
        <p:spPr>
          <a:xfrm>
            <a:off x="4617720" y="1977390"/>
            <a:ext cx="2880360" cy="1988820"/>
          </a:xfrm>
          <a:prstGeom prst="rect">
            <a:avLst/>
          </a:prstGeom>
        </p:spPr>
      </p:pic>
      <p:sp>
        <p:nvSpPr>
          <p:cNvPr id="14" name="badge"/>
          <p:cNvSpPr/>
          <p:nvPr/>
        </p:nvSpPr>
        <p:spPr>
          <a:xfrm>
            <a:off x="4572000" y="4434840"/>
            <a:ext cx="384048" cy="384048"/>
          </a:xfrm>
          <a:prstGeom prst="ellipse">
            <a:avLst/>
          </a:prstGeom>
          <a:solidFill>
            <a:schemeClr val="accent1"/>
          </a:solidFill>
          <a:ln/>
        </p:spPr>
      </p:sp>
      <p:sp>
        <p:nvSpPr>
          <p:cNvPr id="15" name="Text 11"/>
          <p:cNvSpPr txBox="1"/>
          <p:nvPr/>
        </p:nvSpPr>
        <p:spPr>
          <a:xfrm>
            <a:off x="4572000" y="44348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6" name="Text 12"/>
          <p:cNvSpPr txBox="1"/>
          <p:nvPr/>
        </p:nvSpPr>
        <p:spPr>
          <a:xfrm>
            <a:off x="5120640" y="4434840"/>
            <a:ext cx="2514600" cy="384048"/>
          </a:xfrm>
          <a:prstGeom prst="rect">
            <a:avLst/>
          </a:prstGeom>
          <a:noFill/>
          <a:ln/>
        </p:spPr>
        <p:txBody>
          <a:bodyPr wrap="square" lIns="0" tIns="0" rIns="0" bIns="0" rtlCol="0" anchor="ctr"/>
          <a:lstStyle/>
          <a:p>
            <a:pPr marL="0" indent="0">
              <a:buNone/>
            </a:pPr>
            <a:r>
              <a:rPr lang="en-US" sz="1900" b="1" dirty="0">
                <a:solidFill>
                  <a:schemeClr val="accent1"/>
                </a:solidFill>
              </a:rPr>
              <a:t>Heterogeneous arms</a:t>
            </a:r>
            <a:endParaRPr lang="en-US" sz="1900" dirty="0"/>
          </a:p>
        </p:txBody>
      </p:sp>
      <p:sp>
        <p:nvSpPr>
          <p:cNvPr id="17" name="Text 13"/>
          <p:cNvSpPr txBox="1"/>
          <p:nvPr/>
        </p:nvSpPr>
        <p:spPr>
          <a:xfrm>
            <a:off x="4572000" y="4983480"/>
            <a:ext cx="2971800" cy="1005840"/>
          </a:xfrm>
          <a:prstGeom prst="rect">
            <a:avLst/>
          </a:prstGeom>
          <a:noFill/>
          <a:ln/>
        </p:spPr>
        <p:txBody>
          <a:bodyPr wrap="square" lIns="0" tIns="0" rIns="0" bIns="0" rtlCol="0" anchor="t"/>
          <a:lstStyle/>
          <a:p>
            <a:pPr marL="0" indent="0">
              <a:buNone/>
            </a:pPr>
            <a:r>
              <a:rPr lang="en-US" sz="1600" dirty="0">
                <a:solidFill>
                  <a:schemeClr val="tx1"/>
                </a:solidFill>
              </a:rPr>
              <a:t>An SO101 master teleoperates a Piper slave without joint correspondence.</a:t>
            </a:r>
            <a:endParaRPr lang="en-US" sz="1600" dirty="0"/>
          </a:p>
        </p:txBody>
      </p:sp>
      <p:sp>
        <p:nvSpPr>
          <p:cNvPr id="18" name="Smartphone mode contribution"/>
          <p:cNvSpPr/>
          <p:nvPr/>
        </p:nvSpPr>
        <p:spPr>
          <a:xfrm>
            <a:off x="8138160" y="1600200"/>
            <a:ext cx="3429000" cy="4572000"/>
          </a:xfrm>
          <a:prstGeom prst="roundRect">
            <a:avLst>
              <a:gd name="adj" fmla="val 2133"/>
            </a:avLst>
          </a:prstGeom>
          <a:solidFill>
            <a:schemeClr val="bg2"/>
          </a:solidFill>
          <a:ln/>
        </p:spPr>
      </p:sp>
      <p:sp>
        <p:nvSpPr>
          <p:cNvPr id="19" name="image frame"/>
          <p:cNvSpPr/>
          <p:nvPr/>
        </p:nvSpPr>
        <p:spPr>
          <a:xfrm>
            <a:off x="8321040" y="1783080"/>
            <a:ext cx="3063240" cy="2377440"/>
          </a:xfrm>
          <a:prstGeom prst="rect">
            <a:avLst/>
          </a:prstGeom>
          <a:solidFill>
            <a:schemeClr val="bg1"/>
          </a:solidFill>
          <a:ln/>
        </p:spPr>
      </p:sp>
      <p:pic>
        <p:nvPicPr>
          <p:cNvPr id="20" name="Smartphone interface and Piper slave" descr="Smartphone interface and Piper slave"/>
          <p:cNvPicPr>
            <a:picLocks noChangeAspect="1"/>
          </p:cNvPicPr>
          <p:nvPr/>
        </p:nvPicPr>
        <p:blipFill>
          <a:blip r:embed="rId5"/>
          <a:stretch>
            <a:fillRect/>
          </a:stretch>
        </p:blipFill>
        <p:spPr>
          <a:xfrm>
            <a:off x="8412480" y="1977390"/>
            <a:ext cx="2880360" cy="1988820"/>
          </a:xfrm>
          <a:prstGeom prst="rect">
            <a:avLst/>
          </a:prstGeom>
        </p:spPr>
      </p:pic>
      <p:sp>
        <p:nvSpPr>
          <p:cNvPr id="21" name="badge"/>
          <p:cNvSpPr/>
          <p:nvPr/>
        </p:nvSpPr>
        <p:spPr>
          <a:xfrm>
            <a:off x="8366760" y="4434840"/>
            <a:ext cx="384048" cy="384048"/>
          </a:xfrm>
          <a:prstGeom prst="ellipse">
            <a:avLst/>
          </a:prstGeom>
          <a:solidFill>
            <a:schemeClr val="accent1"/>
          </a:solidFill>
          <a:ln/>
        </p:spPr>
      </p:sp>
      <p:sp>
        <p:nvSpPr>
          <p:cNvPr id="22" name="Text 17"/>
          <p:cNvSpPr txBox="1"/>
          <p:nvPr/>
        </p:nvSpPr>
        <p:spPr>
          <a:xfrm>
            <a:off x="8366760" y="44348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3" name="Text 18"/>
          <p:cNvSpPr txBox="1"/>
          <p:nvPr/>
        </p:nvSpPr>
        <p:spPr>
          <a:xfrm>
            <a:off x="8915400" y="4434840"/>
            <a:ext cx="2514600" cy="384048"/>
          </a:xfrm>
          <a:prstGeom prst="rect">
            <a:avLst/>
          </a:prstGeom>
          <a:noFill/>
          <a:ln/>
        </p:spPr>
        <p:txBody>
          <a:bodyPr wrap="square" lIns="0" tIns="0" rIns="0" bIns="0" rtlCol="0" anchor="ctr"/>
          <a:lstStyle/>
          <a:p>
            <a:pPr marL="0" indent="0">
              <a:buNone/>
            </a:pPr>
            <a:r>
              <a:rPr lang="en-US" sz="1900" b="1" dirty="0">
                <a:solidFill>
                  <a:schemeClr val="accent1"/>
                </a:solidFill>
              </a:rPr>
              <a:t>Smartphone mode</a:t>
            </a:r>
            <a:endParaRPr lang="en-US" sz="1900" dirty="0"/>
          </a:p>
        </p:txBody>
      </p:sp>
      <p:sp>
        <p:nvSpPr>
          <p:cNvPr id="24" name="Text 19"/>
          <p:cNvSpPr txBox="1"/>
          <p:nvPr/>
        </p:nvSpPr>
        <p:spPr>
          <a:xfrm>
            <a:off x="8366760" y="4983480"/>
            <a:ext cx="2971800" cy="1005840"/>
          </a:xfrm>
          <a:prstGeom prst="rect">
            <a:avLst/>
          </a:prstGeom>
          <a:noFill/>
          <a:ln/>
        </p:spPr>
        <p:txBody>
          <a:bodyPr wrap="square" lIns="0" tIns="0" rIns="0" bIns="0" rtlCol="0" anchor="t"/>
          <a:lstStyle/>
          <a:p>
            <a:pPr marL="0" indent="0">
              <a:buNone/>
            </a:pPr>
            <a:r>
              <a:rPr lang="en-US" sz="1600" dirty="0">
                <a:solidFill>
                  <a:schemeClr val="tx1"/>
                </a:solidFill>
              </a:rPr>
              <a:t>A smartphone observing AprilTags replaces the master arm at low cost.</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Preliminaries: Projection Neural Network</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A projection neural network solves a convex problem over a box; the projection simply clips each element.</a:t>
            </a:r>
            <a:endParaRPr lang="en-US" sz="1500" dirty="0"/>
          </a:p>
        </p:txBody>
      </p:sp>
      <p:sp>
        <p:nvSpPr>
          <p:cNvPr id="4" name="Text 2"/>
          <p:cNvSpPr txBox="1"/>
          <p:nvPr/>
        </p:nvSpPr>
        <p:spPr>
          <a:xfrm>
            <a:off x="548640" y="1691640"/>
            <a:ext cx="5943600" cy="320040"/>
          </a:xfrm>
          <a:prstGeom prst="rect">
            <a:avLst/>
          </a:prstGeom>
          <a:noFill/>
          <a:ln/>
        </p:spPr>
        <p:txBody>
          <a:bodyPr wrap="square" lIns="0" tIns="0" rIns="0" bIns="0" rtlCol="0" anchor="t"/>
          <a:lstStyle/>
          <a:p>
            <a:pPr marL="0" indent="0">
              <a:buNone/>
            </a:pPr>
            <a:r>
              <a:rPr lang="en-US" sz="1600" b="1" dirty="0">
                <a:solidFill>
                  <a:schemeClr val="accent1"/>
                </a:solidFill>
              </a:rPr>
              <a:t>Projection neural network [Xia et al., 2002]</a:t>
            </a:r>
            <a:endParaRPr lang="en-US" sz="1600" dirty="0"/>
          </a:p>
        </p:txBody>
      </p:sp>
      <p:pic>
        <p:nvPicPr>
          <p:cNvPr id="5" name="eq_pnn_ct" descr="Equation pnn_ct"/>
          <p:cNvPicPr>
            <a:picLocks noChangeAspect="1"/>
          </p:cNvPicPr>
          <p:nvPr/>
        </p:nvPicPr>
        <p:blipFill>
          <a:blip r:embed="rId3"/>
          <a:stretch>
            <a:fillRect/>
          </a:stretch>
        </p:blipFill>
        <p:spPr>
          <a:xfrm>
            <a:off x="548640" y="2148840"/>
            <a:ext cx="3891686" cy="477774"/>
          </a:xfrm>
          <a:prstGeom prst="rect">
            <a:avLst/>
          </a:prstGeom>
        </p:spPr>
      </p:pic>
      <p:sp>
        <p:nvSpPr>
          <p:cNvPr id="6" name="Text 3"/>
          <p:cNvSpPr txBox="1"/>
          <p:nvPr/>
        </p:nvSpPr>
        <p:spPr>
          <a:xfrm>
            <a:off x="548640" y="3154680"/>
            <a:ext cx="5943600" cy="320040"/>
          </a:xfrm>
          <a:prstGeom prst="rect">
            <a:avLst/>
          </a:prstGeom>
          <a:noFill/>
          <a:ln/>
        </p:spPr>
        <p:txBody>
          <a:bodyPr wrap="square" lIns="0" tIns="0" rIns="0" bIns="0" rtlCol="0" anchor="t"/>
          <a:lstStyle/>
          <a:p>
            <a:pPr marL="0" indent="0">
              <a:buNone/>
            </a:pPr>
            <a:r>
              <a:rPr lang="en-US" sz="1600" b="1" dirty="0">
                <a:solidFill>
                  <a:schemeClr val="accent1"/>
                </a:solidFill>
              </a:rPr>
              <a:t>Projection onto the box Ω = {u | ℓ ≤ u ≤ b}</a:t>
            </a:r>
            <a:endParaRPr lang="en-US" sz="1600" dirty="0"/>
          </a:p>
        </p:txBody>
      </p:sp>
      <p:pic>
        <p:nvPicPr>
          <p:cNvPr id="7" name="eq_proj" descr="Equation proj"/>
          <p:cNvPicPr>
            <a:picLocks noChangeAspect="1"/>
          </p:cNvPicPr>
          <p:nvPr/>
        </p:nvPicPr>
        <p:blipFill>
          <a:blip r:embed="rId4"/>
          <a:stretch>
            <a:fillRect/>
          </a:stretch>
        </p:blipFill>
        <p:spPr>
          <a:xfrm>
            <a:off x="548640" y="3611880"/>
            <a:ext cx="3984346" cy="457505"/>
          </a:xfrm>
          <a:prstGeom prst="rect">
            <a:avLst/>
          </a:prstGeom>
        </p:spPr>
      </p:pic>
      <p:sp>
        <p:nvSpPr>
          <p:cNvPr id="8" name="Text 4"/>
          <p:cNvSpPr txBox="1"/>
          <p:nvPr/>
        </p:nvSpPr>
        <p:spPr>
          <a:xfrm>
            <a:off x="548640" y="4434840"/>
            <a:ext cx="603504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 convex objective; ε &gt; 0: time constant; γ &gt; 0: scaling parameter</a:t>
            </a:r>
            <a:endParaRPr lang="en-US" sz="1500" dirty="0"/>
          </a:p>
          <a:p>
            <a:pPr marL="342900" indent="-342900">
              <a:spcAft>
                <a:spcPts val="800"/>
              </a:spcAft>
              <a:buSzPct val="100000"/>
              <a:buChar char="•"/>
            </a:pPr>
            <a:r>
              <a:rPr lang="en-US" sz="1500" dirty="0">
                <a:solidFill>
                  <a:schemeClr val="tx1"/>
                </a:solidFill>
              </a:rPr>
              <a:t>The state is stable at the optimal solution of min F(u) over Ω</a:t>
            </a:r>
            <a:endParaRPr lang="en-US" sz="1500" dirty="0"/>
          </a:p>
          <a:p>
            <a:pPr marL="342900" indent="-342900">
              <a:spcAft>
                <a:spcPts val="800"/>
              </a:spcAft>
              <a:buSzPct val="100000"/>
              <a:buChar char="•"/>
            </a:pPr>
            <a:r>
              <a:rPr lang="en-US" sz="1500" dirty="0">
                <a:solidFill>
                  <a:schemeClr val="tx1"/>
                </a:solidFill>
              </a:rPr>
              <a:t>Elementwise clipping: cheap enough for every control cycle</a:t>
            </a:r>
            <a:endParaRPr lang="en-US" sz="1500" dirty="0"/>
          </a:p>
        </p:txBody>
      </p:sp>
      <p:pic>
        <p:nvPicPr>
          <p:cNvPr id="9" name="Projection onto a box" descr="Projection onto a box"/>
          <p:cNvPicPr>
            <a:picLocks noChangeAspect="1"/>
          </p:cNvPicPr>
          <p:nvPr/>
        </p:nvPicPr>
        <p:blipFill>
          <a:blip r:embed="rId5"/>
          <a:stretch>
            <a:fillRect/>
          </a:stretch>
        </p:blipFill>
        <p:spPr>
          <a:xfrm>
            <a:off x="6949440" y="1737360"/>
            <a:ext cx="4480560" cy="3144253"/>
          </a:xfrm>
          <a:prstGeom prst="rect">
            <a:avLst/>
          </a:prstGeom>
        </p:spPr>
      </p:pic>
      <p:sp>
        <p:nvSpPr>
          <p:cNvPr id="10" name="Text 5"/>
          <p:cNvSpPr txBox="1"/>
          <p:nvPr/>
        </p:nvSpPr>
        <p:spPr>
          <a:xfrm>
            <a:off x="6949440" y="4973053"/>
            <a:ext cx="4480560" cy="457200"/>
          </a:xfrm>
          <a:prstGeom prst="rect">
            <a:avLst/>
          </a:prstGeom>
          <a:noFill/>
          <a:ln/>
        </p:spPr>
        <p:txBody>
          <a:bodyPr wrap="square" lIns="0" tIns="0" rIns="0" bIns="0" rtlCol="0" anchor="t"/>
          <a:lstStyle/>
          <a:p>
            <a:pPr marL="0" indent="0" algn="ctr">
              <a:buNone/>
            </a:pPr>
            <a:r>
              <a:rPr lang="en-US" sz="1200" dirty="0">
                <a:solidFill>
                  <a:schemeClr val="tx2"/>
                </a:solidFill>
              </a:rPr>
              <a:t>Points outside Ω are moved to the nearest point of the box</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Problem: Pose Tracking within Joint Limits</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At each time instant, the joint velocity trades tracking accuracy against smooth motion, inside the joint limits.</a:t>
            </a:r>
            <a:endParaRPr lang="en-US" sz="1500" dirty="0"/>
          </a:p>
        </p:txBody>
      </p:sp>
      <p:sp>
        <p:nvSpPr>
          <p:cNvPr id="4" name="setting card"/>
          <p:cNvSpPr/>
          <p:nvPr/>
        </p:nvSpPr>
        <p:spPr>
          <a:xfrm>
            <a:off x="548640" y="1645920"/>
            <a:ext cx="4206240" cy="4526280"/>
          </a:xfrm>
          <a:prstGeom prst="roundRect">
            <a:avLst>
              <a:gd name="adj" fmla="val 1739"/>
            </a:avLst>
          </a:prstGeom>
          <a:solidFill>
            <a:schemeClr val="bg2"/>
          </a:solidFill>
          <a:ln/>
        </p:spPr>
      </p:sp>
      <p:sp>
        <p:nvSpPr>
          <p:cNvPr id="5" name="Text 3"/>
          <p:cNvSpPr txBox="1"/>
          <p:nvPr/>
        </p:nvSpPr>
        <p:spPr>
          <a:xfrm>
            <a:off x="822960" y="1828800"/>
            <a:ext cx="3657600" cy="365760"/>
          </a:xfrm>
          <a:prstGeom prst="rect">
            <a:avLst/>
          </a:prstGeom>
          <a:noFill/>
          <a:ln/>
        </p:spPr>
        <p:txBody>
          <a:bodyPr wrap="square" lIns="0" tIns="0" rIns="0" bIns="0" rtlCol="0" anchor="t"/>
          <a:lstStyle/>
          <a:p>
            <a:pPr marL="0" indent="0">
              <a:buNone/>
            </a:pPr>
            <a:r>
              <a:rPr lang="en-US" sz="1800" b="1" dirty="0">
                <a:solidFill>
                  <a:schemeClr val="accent1"/>
                </a:solidFill>
              </a:rPr>
              <a:t>Setting</a:t>
            </a:r>
            <a:endParaRPr lang="en-US" sz="1800" dirty="0"/>
          </a:p>
        </p:txBody>
      </p:sp>
      <p:pic>
        <p:nvPicPr>
          <p:cNvPr id="6" name="Piper slave arm and mannequin head" descr="Piper slave arm and mannequin head"/>
          <p:cNvPicPr>
            <a:picLocks noChangeAspect="1"/>
          </p:cNvPicPr>
          <p:nvPr/>
        </p:nvPicPr>
        <p:blipFill>
          <a:blip r:embed="rId3"/>
          <a:stretch>
            <a:fillRect/>
          </a:stretch>
        </p:blipFill>
        <p:spPr>
          <a:xfrm>
            <a:off x="822960" y="2286000"/>
            <a:ext cx="3657600" cy="2057400"/>
          </a:xfrm>
          <a:prstGeom prst="rect">
            <a:avLst/>
          </a:prstGeom>
        </p:spPr>
      </p:pic>
      <p:sp>
        <p:nvSpPr>
          <p:cNvPr id="7" name="Text 4"/>
          <p:cNvSpPr txBox="1"/>
          <p:nvPr/>
        </p:nvSpPr>
        <p:spPr>
          <a:xfrm>
            <a:off x="822960" y="4389120"/>
            <a:ext cx="3657600" cy="457200"/>
          </a:xfrm>
          <a:prstGeom prst="rect">
            <a:avLst/>
          </a:prstGeom>
          <a:noFill/>
          <a:ln/>
        </p:spPr>
        <p:txBody>
          <a:bodyPr wrap="square" lIns="0" tIns="0" rIns="0" bIns="0" rtlCol="0" anchor="t"/>
          <a:lstStyle/>
          <a:p>
            <a:pPr marL="0" indent="0" algn="ctr">
              <a:buNone/>
            </a:pPr>
            <a:r>
              <a:rPr lang="en-US" sz="1100" dirty="0">
                <a:solidFill>
                  <a:schemeClr val="tx2"/>
                </a:solidFill>
              </a:rPr>
              <a:t>Piper slave (6 joints) with a tool and a mannequin head</a:t>
            </a:r>
            <a:endParaRPr lang="en-US" sz="1100" dirty="0"/>
          </a:p>
        </p:txBody>
      </p:sp>
      <p:sp>
        <p:nvSpPr>
          <p:cNvPr id="8" name="Text 5"/>
          <p:cNvSpPr txBox="1"/>
          <p:nvPr/>
        </p:nvSpPr>
        <p:spPr>
          <a:xfrm>
            <a:off x="822960" y="4800600"/>
            <a:ext cx="3657600" cy="1280160"/>
          </a:xfrm>
          <a:prstGeom prst="rect">
            <a:avLst/>
          </a:prstGeom>
          <a:noFill/>
          <a:ln/>
        </p:spPr>
        <p:txBody>
          <a:bodyPr wrap="square" lIns="0" tIns="0" rIns="0" bIns="0" rtlCol="0" anchor="t"/>
          <a:lstStyle/>
          <a:p>
            <a:pPr marL="0" indent="0">
              <a:spcAft>
                <a:spcPts val="600"/>
              </a:spcAft>
              <a:buNone/>
            </a:pPr>
            <a:r>
              <a:rPr lang="en-US" sz="1300" b="1" dirty="0">
                <a:solidFill>
                  <a:schemeClr val="tx1"/>
                </a:solidFill>
              </a:rPr>
              <a:t>Desired pose: </a:t>
            </a:r>
            <a:r>
              <a:rPr lang="en-US" sz="1300" dirty="0">
                <a:solidFill>
                  <a:schemeClr val="tx1"/>
                </a:solidFill>
              </a:rPr>
              <a:t>6-D, from the master arm or the smartphone</a:t>
            </a:r>
            <a:endParaRPr lang="en-US" sz="1300" dirty="0"/>
          </a:p>
          <a:p>
            <a:pPr marL="0" indent="0">
              <a:spcAft>
                <a:spcPts val="600"/>
              </a:spcAft>
              <a:buNone/>
            </a:pPr>
            <a:r>
              <a:rPr lang="en-US" sz="1300" b="1" dirty="0">
                <a:solidFill>
                  <a:schemeClr val="tx1"/>
                </a:solidFill>
              </a:rPr>
              <a:t>No redundancy: </a:t>
            </a:r>
            <a:r>
              <a:rPr lang="en-US" sz="1300" dirty="0">
                <a:solidFill>
                  <a:schemeClr val="tx1"/>
                </a:solidFill>
              </a:rPr>
              <a:t>6 joints for a 6-D pose, so accuracy and small joint velocities conflict</a:t>
            </a:r>
            <a:endParaRPr lang="en-US" sz="1300" dirty="0"/>
          </a:p>
        </p:txBody>
      </p:sp>
      <p:sp>
        <p:nvSpPr>
          <p:cNvPr id="9" name="badge"/>
          <p:cNvSpPr/>
          <p:nvPr/>
        </p:nvSpPr>
        <p:spPr>
          <a:xfrm>
            <a:off x="5257800" y="1691640"/>
            <a:ext cx="384048" cy="384048"/>
          </a:xfrm>
          <a:prstGeom prst="ellipse">
            <a:avLst/>
          </a:prstGeom>
          <a:solidFill>
            <a:schemeClr val="accent1"/>
          </a:solidFill>
          <a:ln/>
        </p:spPr>
      </p:sp>
      <p:sp>
        <p:nvSpPr>
          <p:cNvPr id="10" name="Text 7"/>
          <p:cNvSpPr txBox="1"/>
          <p:nvPr/>
        </p:nvSpPr>
        <p:spPr>
          <a:xfrm>
            <a:off x="5257800" y="16916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1" name="Text 8"/>
          <p:cNvSpPr txBox="1"/>
          <p:nvPr/>
        </p:nvSpPr>
        <p:spPr>
          <a:xfrm>
            <a:off x="5806440" y="1691640"/>
            <a:ext cx="5486400" cy="384048"/>
          </a:xfrm>
          <a:prstGeom prst="rect">
            <a:avLst/>
          </a:prstGeom>
          <a:noFill/>
          <a:ln/>
        </p:spPr>
        <p:txBody>
          <a:bodyPr wrap="square" lIns="0" tIns="0" rIns="0" bIns="0" rtlCol="0" anchor="ctr"/>
          <a:lstStyle/>
          <a:p>
            <a:pPr marL="0" indent="0">
              <a:buNone/>
            </a:pPr>
            <a:r>
              <a:rPr lang="en-US" sz="1600" b="1" dirty="0">
                <a:solidFill>
                  <a:schemeClr val="tx1"/>
                </a:solidFill>
              </a:rPr>
              <a:t>Tracking error of the slave</a:t>
            </a:r>
            <a:endParaRPr lang="en-US" sz="1600" dirty="0"/>
          </a:p>
        </p:txBody>
      </p:sp>
      <p:pic>
        <p:nvPicPr>
          <p:cNvPr id="12" name="eq_err" descr="Equation err"/>
          <p:cNvPicPr>
            <a:picLocks noChangeAspect="1"/>
          </p:cNvPicPr>
          <p:nvPr/>
        </p:nvPicPr>
        <p:blipFill>
          <a:blip r:embed="rId4"/>
          <a:stretch>
            <a:fillRect/>
          </a:stretch>
        </p:blipFill>
        <p:spPr>
          <a:xfrm>
            <a:off x="5806440" y="2194560"/>
            <a:ext cx="1968246" cy="363474"/>
          </a:xfrm>
          <a:prstGeom prst="rect">
            <a:avLst/>
          </a:prstGeom>
        </p:spPr>
      </p:pic>
      <p:sp>
        <p:nvSpPr>
          <p:cNvPr id="13" name="badge"/>
          <p:cNvSpPr/>
          <p:nvPr/>
        </p:nvSpPr>
        <p:spPr>
          <a:xfrm>
            <a:off x="5257800" y="2880360"/>
            <a:ext cx="384048" cy="384048"/>
          </a:xfrm>
          <a:prstGeom prst="ellipse">
            <a:avLst/>
          </a:prstGeom>
          <a:solidFill>
            <a:schemeClr val="accent1"/>
          </a:solidFill>
          <a:ln/>
        </p:spPr>
      </p:sp>
      <p:sp>
        <p:nvSpPr>
          <p:cNvPr id="14" name="Text 10"/>
          <p:cNvSpPr txBox="1"/>
          <p:nvPr/>
        </p:nvSpPr>
        <p:spPr>
          <a:xfrm>
            <a:off x="5257800" y="28803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5" name="Text 11"/>
          <p:cNvSpPr txBox="1"/>
          <p:nvPr/>
        </p:nvSpPr>
        <p:spPr>
          <a:xfrm>
            <a:off x="5806440" y="2880360"/>
            <a:ext cx="5943600" cy="384048"/>
          </a:xfrm>
          <a:prstGeom prst="rect">
            <a:avLst/>
          </a:prstGeom>
          <a:noFill/>
          <a:ln/>
        </p:spPr>
        <p:txBody>
          <a:bodyPr wrap="square" lIns="0" tIns="0" rIns="0" bIns="0" rtlCol="0" anchor="ctr"/>
          <a:lstStyle/>
          <a:p>
            <a:pPr marL="0" indent="0">
              <a:buNone/>
            </a:pPr>
            <a:r>
              <a:rPr lang="en-US" sz="1600" b="1" dirty="0">
                <a:solidFill>
                  <a:schemeClr val="tx1"/>
                </a:solidFill>
              </a:rPr>
              <a:t>Optimization problem for the joint velocity</a:t>
            </a:r>
            <a:endParaRPr lang="en-US" sz="1600" dirty="0"/>
          </a:p>
        </p:txBody>
      </p:sp>
      <p:pic>
        <p:nvPicPr>
          <p:cNvPr id="16" name="eq_obj" descr="Equation obj"/>
          <p:cNvPicPr>
            <a:picLocks noChangeAspect="1"/>
          </p:cNvPicPr>
          <p:nvPr/>
        </p:nvPicPr>
        <p:blipFill>
          <a:blip r:embed="rId5"/>
          <a:stretch>
            <a:fillRect/>
          </a:stretch>
        </p:blipFill>
        <p:spPr>
          <a:xfrm>
            <a:off x="5806440" y="3383280"/>
            <a:ext cx="5648797" cy="427939"/>
          </a:xfrm>
          <a:prstGeom prst="rect">
            <a:avLst/>
          </a:prstGeom>
        </p:spPr>
      </p:pic>
      <p:sp>
        <p:nvSpPr>
          <p:cNvPr id="17" name="Text 12"/>
          <p:cNvSpPr txBox="1"/>
          <p:nvPr/>
        </p:nvSpPr>
        <p:spPr>
          <a:xfrm>
            <a:off x="5806440" y="3931920"/>
            <a:ext cx="5760720" cy="365760"/>
          </a:xfrm>
          <a:prstGeom prst="rect">
            <a:avLst/>
          </a:prstGeom>
          <a:noFill/>
          <a:ln/>
        </p:spPr>
        <p:txBody>
          <a:bodyPr wrap="square" lIns="0" tIns="0" rIns="0" bIns="0" rtlCol="0" anchor="t"/>
          <a:lstStyle/>
          <a:p>
            <a:pPr marL="0" indent="0">
              <a:buNone/>
            </a:pPr>
            <a:r>
              <a:rPr lang="en-US" sz="1300" b="1" dirty="0">
                <a:solidFill>
                  <a:schemeClr val="accent1"/>
                </a:solidFill>
              </a:rPr>
              <a:t>tracking</a:t>
            </a:r>
            <a:r>
              <a:rPr lang="en-US" sz="1300" dirty="0">
                <a:solidFill>
                  <a:schemeClr val="tx2"/>
                </a:solidFill>
              </a:rPr>
              <a:t> term + </a:t>
            </a:r>
            <a:r>
              <a:rPr lang="en-US" sz="1300" b="1" dirty="0">
                <a:solidFill>
                  <a:schemeClr val="accent2"/>
                </a:solidFill>
              </a:rPr>
              <a:t>smoothness</a:t>
            </a:r>
            <a:r>
              <a:rPr lang="en-US" sz="1300" dirty="0">
                <a:solidFill>
                  <a:schemeClr val="tx2"/>
                </a:solidFill>
              </a:rPr>
              <a:t> term; a larger λ gives smoother motion and a larger error</a:t>
            </a:r>
            <a:endParaRPr lang="en-US" sz="1300" dirty="0"/>
          </a:p>
        </p:txBody>
      </p:sp>
      <p:sp>
        <p:nvSpPr>
          <p:cNvPr id="18" name="badge"/>
          <p:cNvSpPr/>
          <p:nvPr/>
        </p:nvSpPr>
        <p:spPr>
          <a:xfrm>
            <a:off x="5257800" y="4480560"/>
            <a:ext cx="384048" cy="384048"/>
          </a:xfrm>
          <a:prstGeom prst="ellipse">
            <a:avLst/>
          </a:prstGeom>
          <a:solidFill>
            <a:schemeClr val="accent1"/>
          </a:solidFill>
          <a:ln/>
        </p:spPr>
      </p:sp>
      <p:sp>
        <p:nvSpPr>
          <p:cNvPr id="19" name="Text 14"/>
          <p:cNvSpPr txBox="1"/>
          <p:nvPr/>
        </p:nvSpPr>
        <p:spPr>
          <a:xfrm>
            <a:off x="5257800" y="44805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0" name="Text 15"/>
          <p:cNvSpPr txBox="1"/>
          <p:nvPr/>
        </p:nvSpPr>
        <p:spPr>
          <a:xfrm>
            <a:off x="5806440" y="4480560"/>
            <a:ext cx="5943600" cy="384048"/>
          </a:xfrm>
          <a:prstGeom prst="rect">
            <a:avLst/>
          </a:prstGeom>
          <a:noFill/>
          <a:ln/>
        </p:spPr>
        <p:txBody>
          <a:bodyPr wrap="square" lIns="0" tIns="0" rIns="0" bIns="0" rtlCol="0" anchor="ctr"/>
          <a:lstStyle/>
          <a:p>
            <a:pPr marL="0" indent="0">
              <a:buNone/>
            </a:pPr>
            <a:r>
              <a:rPr lang="en-US" sz="1600" b="1" dirty="0">
                <a:solidFill>
                  <a:schemeClr val="tx1"/>
                </a:solidFill>
              </a:rPr>
              <a:t>Bounds from joint-angle and joint-velocity limits</a:t>
            </a:r>
            <a:endParaRPr lang="en-US" sz="1600" dirty="0"/>
          </a:p>
        </p:txBody>
      </p:sp>
      <p:pic>
        <p:nvPicPr>
          <p:cNvPr id="21" name="eq_bl" descr="Equation bl"/>
          <p:cNvPicPr>
            <a:picLocks noChangeAspect="1"/>
          </p:cNvPicPr>
          <p:nvPr/>
        </p:nvPicPr>
        <p:blipFill>
          <a:blip r:embed="rId6"/>
          <a:stretch>
            <a:fillRect/>
          </a:stretch>
        </p:blipFill>
        <p:spPr>
          <a:xfrm>
            <a:off x="5806440" y="4983480"/>
            <a:ext cx="3571159" cy="333695"/>
          </a:xfrm>
          <a:prstGeom prst="rect">
            <a:avLst/>
          </a:prstGeom>
        </p:spPr>
      </p:pic>
      <p:pic>
        <p:nvPicPr>
          <p:cNvPr id="22" name="eq_bb" descr="Equation bb"/>
          <p:cNvPicPr>
            <a:picLocks noChangeAspect="1"/>
          </p:cNvPicPr>
          <p:nvPr/>
        </p:nvPicPr>
        <p:blipFill>
          <a:blip r:embed="rId7"/>
          <a:stretch>
            <a:fillRect/>
          </a:stretch>
        </p:blipFill>
        <p:spPr>
          <a:xfrm>
            <a:off x="5806440" y="5394960"/>
            <a:ext cx="3424001" cy="333695"/>
          </a:xfrm>
          <a:prstGeom prst="rect">
            <a:avLst/>
          </a:prstGeom>
        </p:spPr>
      </p:pic>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Discrete-Time Projection Neural Network</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Three steps turn the QP into a network that runs one step at each time instant.</a:t>
            </a:r>
            <a:endParaRPr lang="en-US" sz="1500" dirty="0"/>
          </a:p>
        </p:txBody>
      </p:sp>
      <p:sp>
        <p:nvSpPr>
          <p:cNvPr id="4" name="Step 1 card"/>
          <p:cNvSpPr/>
          <p:nvPr/>
        </p:nvSpPr>
        <p:spPr>
          <a:xfrm>
            <a:off x="548640" y="1600200"/>
            <a:ext cx="3515258" cy="1463040"/>
          </a:xfrm>
          <a:prstGeom prst="roundRect">
            <a:avLst>
              <a:gd name="adj" fmla="val 5000"/>
            </a:avLst>
          </a:prstGeom>
          <a:solidFill>
            <a:schemeClr val="bg2"/>
          </a:solidFill>
          <a:ln/>
        </p:spPr>
      </p:sp>
      <p:sp>
        <p:nvSpPr>
          <p:cNvPr id="5" name="Text 3"/>
          <p:cNvSpPr txBox="1"/>
          <p:nvPr/>
        </p:nvSpPr>
        <p:spPr>
          <a:xfrm>
            <a:off x="777240" y="1737360"/>
            <a:ext cx="3058058" cy="365760"/>
          </a:xfrm>
          <a:prstGeom prst="rect">
            <a:avLst/>
          </a:prstGeom>
          <a:noFill/>
          <a:ln/>
        </p:spPr>
        <p:txBody>
          <a:bodyPr wrap="square" lIns="0" tIns="0" rIns="0" bIns="0" rtlCol="0" anchor="t"/>
          <a:lstStyle/>
          <a:p>
            <a:pPr marL="0" indent="0">
              <a:buNone/>
            </a:pPr>
            <a:r>
              <a:rPr lang="en-US" sz="1500" b="1" dirty="0">
                <a:solidFill>
                  <a:schemeClr val="accent1"/>
                </a:solidFill>
              </a:rPr>
              <a:t>Step 1  </a:t>
            </a:r>
            <a:r>
              <a:rPr lang="en-US" sz="1500" b="1" dirty="0">
                <a:solidFill>
                  <a:schemeClr val="tx1"/>
                </a:solidFill>
              </a:rPr>
              <a:t>Optimality condition</a:t>
            </a:r>
            <a:endParaRPr lang="en-US" sz="1500" dirty="0"/>
          </a:p>
        </p:txBody>
      </p:sp>
      <p:pic>
        <p:nvPicPr>
          <p:cNvPr id="6" name="eq_fixed" descr="Equation fixed"/>
          <p:cNvPicPr>
            <a:picLocks noChangeAspect="1"/>
          </p:cNvPicPr>
          <p:nvPr/>
        </p:nvPicPr>
        <p:blipFill>
          <a:blip r:embed="rId3"/>
          <a:stretch>
            <a:fillRect/>
          </a:stretch>
        </p:blipFill>
        <p:spPr>
          <a:xfrm>
            <a:off x="777240" y="2286000"/>
            <a:ext cx="2310872" cy="344546"/>
          </a:xfrm>
          <a:prstGeom prst="rect">
            <a:avLst/>
          </a:prstGeom>
        </p:spPr>
      </p:pic>
      <p:sp>
        <p:nvSpPr>
          <p:cNvPr id="7" name="Step 2 card"/>
          <p:cNvSpPr/>
          <p:nvPr/>
        </p:nvSpPr>
        <p:spPr>
          <a:xfrm>
            <a:off x="4338218" y="1600200"/>
            <a:ext cx="3515258" cy="1463040"/>
          </a:xfrm>
          <a:prstGeom prst="roundRect">
            <a:avLst>
              <a:gd name="adj" fmla="val 5000"/>
            </a:avLst>
          </a:prstGeom>
          <a:solidFill>
            <a:schemeClr val="bg2"/>
          </a:solidFill>
          <a:ln/>
        </p:spPr>
      </p:sp>
      <p:sp>
        <p:nvSpPr>
          <p:cNvPr id="8" name="Text 5"/>
          <p:cNvSpPr txBox="1"/>
          <p:nvPr/>
        </p:nvSpPr>
        <p:spPr>
          <a:xfrm>
            <a:off x="4566818" y="1737360"/>
            <a:ext cx="3058058" cy="365760"/>
          </a:xfrm>
          <a:prstGeom prst="rect">
            <a:avLst/>
          </a:prstGeom>
          <a:noFill/>
          <a:ln/>
        </p:spPr>
        <p:txBody>
          <a:bodyPr wrap="square" lIns="0" tIns="0" rIns="0" bIns="0" rtlCol="0" anchor="t"/>
          <a:lstStyle/>
          <a:p>
            <a:pPr marL="0" indent="0">
              <a:buNone/>
            </a:pPr>
            <a:r>
              <a:rPr lang="en-US" sz="1500" b="1" dirty="0">
                <a:solidFill>
                  <a:schemeClr val="accent1"/>
                </a:solidFill>
              </a:rPr>
              <a:t>Step 2  </a:t>
            </a:r>
            <a:r>
              <a:rPr lang="en-US" sz="1500" b="1" dirty="0">
                <a:solidFill>
                  <a:schemeClr val="tx1"/>
                </a:solidFill>
              </a:rPr>
              <a:t>Continuous-time model</a:t>
            </a:r>
            <a:endParaRPr lang="en-US" sz="1500" dirty="0"/>
          </a:p>
        </p:txBody>
      </p:sp>
      <p:pic>
        <p:nvPicPr>
          <p:cNvPr id="9" name="eq_ct" descr="Equation ct"/>
          <p:cNvPicPr>
            <a:picLocks noChangeAspect="1"/>
          </p:cNvPicPr>
          <p:nvPr/>
        </p:nvPicPr>
        <p:blipFill>
          <a:blip r:embed="rId4"/>
          <a:stretch>
            <a:fillRect/>
          </a:stretch>
        </p:blipFill>
        <p:spPr>
          <a:xfrm>
            <a:off x="4566818" y="2286000"/>
            <a:ext cx="2951439" cy="341986"/>
          </a:xfrm>
          <a:prstGeom prst="rect">
            <a:avLst/>
          </a:prstGeom>
        </p:spPr>
      </p:pic>
      <p:sp>
        <p:nvSpPr>
          <p:cNvPr id="10" name="Step 3 card"/>
          <p:cNvSpPr/>
          <p:nvPr/>
        </p:nvSpPr>
        <p:spPr>
          <a:xfrm>
            <a:off x="8127797" y="1600200"/>
            <a:ext cx="3515258" cy="1463040"/>
          </a:xfrm>
          <a:prstGeom prst="roundRect">
            <a:avLst>
              <a:gd name="adj" fmla="val 5000"/>
            </a:avLst>
          </a:prstGeom>
          <a:solidFill>
            <a:schemeClr val="bg2"/>
          </a:solidFill>
          <a:ln/>
        </p:spPr>
      </p:sp>
      <p:sp>
        <p:nvSpPr>
          <p:cNvPr id="11" name="Text 7"/>
          <p:cNvSpPr txBox="1"/>
          <p:nvPr/>
        </p:nvSpPr>
        <p:spPr>
          <a:xfrm>
            <a:off x="8356397" y="1737360"/>
            <a:ext cx="3058058" cy="365760"/>
          </a:xfrm>
          <a:prstGeom prst="rect">
            <a:avLst/>
          </a:prstGeom>
          <a:noFill/>
          <a:ln/>
        </p:spPr>
        <p:txBody>
          <a:bodyPr wrap="square" lIns="0" tIns="0" rIns="0" bIns="0" rtlCol="0" anchor="t"/>
          <a:lstStyle/>
          <a:p>
            <a:pPr marL="0" indent="0">
              <a:buNone/>
            </a:pPr>
            <a:r>
              <a:rPr lang="en-US" sz="1500" b="1" dirty="0">
                <a:solidFill>
                  <a:schemeClr val="accent1"/>
                </a:solidFill>
              </a:rPr>
              <a:t>Step 3  </a:t>
            </a:r>
            <a:r>
              <a:rPr lang="en-US" sz="1500" b="1" dirty="0">
                <a:solidFill>
                  <a:schemeClr val="tx1"/>
                </a:solidFill>
              </a:rPr>
              <a:t>Euler forward, α = τ/ε</a:t>
            </a:r>
            <a:endParaRPr lang="en-US" sz="1500" dirty="0"/>
          </a:p>
        </p:txBody>
      </p:sp>
      <p:sp>
        <p:nvSpPr>
          <p:cNvPr id="12" name="Text 8"/>
          <p:cNvSpPr txBox="1"/>
          <p:nvPr/>
        </p:nvSpPr>
        <p:spPr>
          <a:xfrm>
            <a:off x="8356397" y="2194560"/>
            <a:ext cx="3058058" cy="731520"/>
          </a:xfrm>
          <a:prstGeom prst="rect">
            <a:avLst/>
          </a:prstGeom>
          <a:noFill/>
          <a:ln/>
        </p:spPr>
        <p:txBody>
          <a:bodyPr wrap="square" lIns="0" tIns="0" rIns="0" bIns="0" rtlCol="0" anchor="t"/>
          <a:lstStyle/>
          <a:p>
            <a:pPr marL="0" indent="0">
              <a:buNone/>
            </a:pPr>
            <a:r>
              <a:rPr lang="en-US" sz="1300" dirty="0">
                <a:solidFill>
                  <a:schemeClr val="tx1"/>
                </a:solidFill>
              </a:rPr>
              <a:t>Discretize the model with time step τ, one step per control cycle (digital controller)</a:t>
            </a:r>
            <a:endParaRPr lang="en-US" sz="1300" dirty="0"/>
          </a:p>
        </p:txBody>
      </p:sp>
      <p:sp>
        <p:nvSpPr>
          <p:cNvPr id="13" name="network card"/>
          <p:cNvSpPr/>
          <p:nvPr/>
        </p:nvSpPr>
        <p:spPr>
          <a:xfrm>
            <a:off x="548640" y="3337560"/>
            <a:ext cx="11094415" cy="1371600"/>
          </a:xfrm>
          <a:prstGeom prst="roundRect">
            <a:avLst>
              <a:gd name="adj" fmla="val 5333"/>
            </a:avLst>
          </a:prstGeom>
          <a:solidFill>
            <a:schemeClr val="bg1"/>
          </a:solidFill>
          <a:ln w="19050">
            <a:solidFill>
              <a:schemeClr val="accent1"/>
            </a:solidFill>
            <a:prstDash val="solid"/>
          </a:ln>
        </p:spPr>
      </p:sp>
      <p:sp>
        <p:nvSpPr>
          <p:cNvPr id="14" name="Text 10"/>
          <p:cNvSpPr txBox="1"/>
          <p:nvPr/>
        </p:nvSpPr>
        <p:spPr>
          <a:xfrm>
            <a:off x="822960" y="3447288"/>
            <a:ext cx="5486400" cy="320040"/>
          </a:xfrm>
          <a:prstGeom prst="rect">
            <a:avLst/>
          </a:prstGeom>
          <a:noFill/>
          <a:ln/>
        </p:spPr>
        <p:txBody>
          <a:bodyPr wrap="square" lIns="0" tIns="0" rIns="0" bIns="0" rtlCol="0" anchor="t"/>
          <a:lstStyle/>
          <a:p>
            <a:pPr marL="0" indent="0">
              <a:buNone/>
            </a:pPr>
            <a:r>
              <a:rPr lang="en-US" sz="1500" b="1" dirty="0">
                <a:solidFill>
                  <a:schemeClr val="accent1"/>
                </a:solidFill>
              </a:rPr>
              <a:t>Network at the k-th time instant</a:t>
            </a:r>
            <a:endParaRPr lang="en-US" sz="1500" dirty="0"/>
          </a:p>
        </p:txBody>
      </p:sp>
      <p:pic>
        <p:nvPicPr>
          <p:cNvPr id="15" name="eq_iter" descr="Equation iter"/>
          <p:cNvPicPr>
            <a:picLocks noChangeAspect="1"/>
          </p:cNvPicPr>
          <p:nvPr/>
        </p:nvPicPr>
        <p:blipFill>
          <a:blip r:embed="rId5"/>
          <a:stretch>
            <a:fillRect/>
          </a:stretch>
        </p:blipFill>
        <p:spPr>
          <a:xfrm>
            <a:off x="822960" y="3886200"/>
            <a:ext cx="6220511" cy="406756"/>
          </a:xfrm>
          <a:prstGeom prst="rect">
            <a:avLst/>
          </a:prstGeom>
        </p:spPr>
      </p:pic>
      <p:pic>
        <p:nvPicPr>
          <p:cNvPr id="16" name="eq_cmd" descr="Equation cmd"/>
          <p:cNvPicPr>
            <a:picLocks noChangeAspect="1"/>
          </p:cNvPicPr>
          <p:nvPr/>
        </p:nvPicPr>
        <p:blipFill>
          <a:blip r:embed="rId6"/>
          <a:stretch>
            <a:fillRect/>
          </a:stretch>
        </p:blipFill>
        <p:spPr>
          <a:xfrm>
            <a:off x="7863840" y="3886200"/>
            <a:ext cx="2481986" cy="411937"/>
          </a:xfrm>
          <a:prstGeom prst="rect">
            <a:avLst/>
          </a:prstGeom>
        </p:spPr>
      </p:pic>
      <p:sp>
        <p:nvSpPr>
          <p:cNvPr id="17" name="Text 11"/>
          <p:cNvSpPr txBox="1"/>
          <p:nvPr/>
        </p:nvSpPr>
        <p:spPr>
          <a:xfrm>
            <a:off x="7863840" y="4325112"/>
            <a:ext cx="2468880" cy="274320"/>
          </a:xfrm>
          <a:prstGeom prst="rect">
            <a:avLst/>
          </a:prstGeom>
          <a:noFill/>
          <a:ln/>
        </p:spPr>
        <p:txBody>
          <a:bodyPr wrap="square" lIns="0" tIns="0" rIns="0" bIns="0" rtlCol="0" anchor="t"/>
          <a:lstStyle/>
          <a:p>
            <a:pPr marL="0" indent="0">
              <a:buNone/>
            </a:pPr>
            <a:r>
              <a:rPr lang="en-US" sz="1200" dirty="0">
                <a:solidFill>
                  <a:schemeClr val="tx2"/>
                </a:solidFill>
              </a:rPr>
              <a:t>joint command</a:t>
            </a:r>
            <a:endParaRPr lang="en-US" sz="1200" dirty="0"/>
          </a:p>
        </p:txBody>
      </p:sp>
      <p:sp>
        <p:nvSpPr>
          <p:cNvPr id="18" name="algorithm step 1"/>
          <p:cNvSpPr/>
          <p:nvPr/>
        </p:nvSpPr>
        <p:spPr>
          <a:xfrm>
            <a:off x="548640" y="5120640"/>
            <a:ext cx="2464994" cy="914400"/>
          </a:xfrm>
          <a:prstGeom prst="roundRect">
            <a:avLst>
              <a:gd name="adj" fmla="val 8000"/>
            </a:avLst>
          </a:prstGeom>
          <a:solidFill>
            <a:schemeClr val="bg2"/>
          </a:solidFill>
          <a:ln/>
        </p:spPr>
      </p:sp>
      <p:sp>
        <p:nvSpPr>
          <p:cNvPr id="19" name="Text 13"/>
          <p:cNvSpPr txBox="1"/>
          <p:nvPr/>
        </p:nvSpPr>
        <p:spPr>
          <a:xfrm>
            <a:off x="685800" y="5120640"/>
            <a:ext cx="2190674" cy="914400"/>
          </a:xfrm>
          <a:prstGeom prst="rect">
            <a:avLst/>
          </a:prstGeom>
          <a:noFill/>
          <a:ln/>
        </p:spPr>
        <p:txBody>
          <a:bodyPr wrap="square" lIns="0" tIns="0" rIns="0" bIns="0" rtlCol="0" anchor="ctr"/>
          <a:lstStyle/>
          <a:p>
            <a:pPr marL="0" indent="0" algn="ctr">
              <a:buNone/>
            </a:pPr>
            <a:r>
              <a:rPr lang="en-US" sz="1400" dirty="0">
                <a:solidFill>
                  <a:schemeClr val="tx1"/>
                </a:solidFill>
              </a:rPr>
              <a:t>Compute e</a:t>
            </a:r>
            <a:r>
              <a:rPr lang="en-US" sz="1400" baseline="-40000" dirty="0">
                <a:solidFill>
                  <a:schemeClr val="tx1"/>
                </a:solidFill>
              </a:rPr>
              <a:t>k</a:t>
            </a:r>
            <a:r>
              <a:rPr lang="en-US" sz="1400" dirty="0">
                <a:solidFill>
                  <a:schemeClr val="tx1"/>
                </a:solidFill>
              </a:rPr>
              <a:t>, J</a:t>
            </a:r>
            <a:r>
              <a:rPr lang="en-US" sz="1400" baseline="-40000" dirty="0">
                <a:solidFill>
                  <a:schemeClr val="tx1"/>
                </a:solidFill>
              </a:rPr>
              <a:t>k</a:t>
            </a:r>
            <a:r>
              <a:rPr lang="en-US" sz="1400" dirty="0">
                <a:solidFill>
                  <a:schemeClr val="tx1"/>
                </a:solidFill>
              </a:rPr>
              <a:t>, H</a:t>
            </a:r>
            <a:r>
              <a:rPr lang="en-US" sz="1400" baseline="-40000" dirty="0">
                <a:solidFill>
                  <a:schemeClr val="tx1"/>
                </a:solidFill>
              </a:rPr>
              <a:t>k</a:t>
            </a:r>
            <a:r>
              <a:rPr lang="en-US" sz="1400" dirty="0">
                <a:solidFill>
                  <a:schemeClr val="tx1"/>
                </a:solidFill>
              </a:rPr>
              <a:t>, f</a:t>
            </a:r>
            <a:r>
              <a:rPr lang="en-US" sz="1400" baseline="-40000" dirty="0">
                <a:solidFill>
                  <a:schemeClr val="tx1"/>
                </a:solidFill>
              </a:rPr>
              <a:t>k</a:t>
            </a:r>
            <a:r>
              <a:rPr lang="en-US" sz="1400" dirty="0">
                <a:solidFill>
                  <a:schemeClr val="tx1"/>
                </a:solidFill>
              </a:rPr>
              <a:t> and the bounds</a:t>
            </a:r>
            <a:endParaRPr lang="en-US" sz="1400" dirty="0"/>
          </a:p>
        </p:txBody>
      </p:sp>
      <p:sp>
        <p:nvSpPr>
          <p:cNvPr id="20" name="arrow"/>
          <p:cNvSpPr/>
          <p:nvPr/>
        </p:nvSpPr>
        <p:spPr>
          <a:xfrm>
            <a:off x="3059354" y="5440680"/>
            <a:ext cx="320040" cy="274320"/>
          </a:xfrm>
          <a:prstGeom prst="rightArrow">
            <a:avLst/>
          </a:prstGeom>
          <a:solidFill>
            <a:schemeClr val="tx2"/>
          </a:solidFill>
          <a:ln/>
        </p:spPr>
      </p:sp>
      <p:sp>
        <p:nvSpPr>
          <p:cNvPr id="21" name="algorithm step 2"/>
          <p:cNvSpPr/>
          <p:nvPr/>
        </p:nvSpPr>
        <p:spPr>
          <a:xfrm>
            <a:off x="3425114" y="5120640"/>
            <a:ext cx="2464994" cy="914400"/>
          </a:xfrm>
          <a:prstGeom prst="roundRect">
            <a:avLst>
              <a:gd name="adj" fmla="val 8000"/>
            </a:avLst>
          </a:prstGeom>
          <a:solidFill>
            <a:schemeClr val="bg2"/>
          </a:solidFill>
          <a:ln/>
        </p:spPr>
      </p:sp>
      <p:sp>
        <p:nvSpPr>
          <p:cNvPr id="22" name="Text 16"/>
          <p:cNvSpPr txBox="1"/>
          <p:nvPr/>
        </p:nvSpPr>
        <p:spPr>
          <a:xfrm>
            <a:off x="3562274" y="5120640"/>
            <a:ext cx="2190674" cy="914400"/>
          </a:xfrm>
          <a:prstGeom prst="rect">
            <a:avLst/>
          </a:prstGeom>
          <a:noFill/>
          <a:ln/>
        </p:spPr>
        <p:txBody>
          <a:bodyPr wrap="square" lIns="0" tIns="0" rIns="0" bIns="0" rtlCol="0" anchor="ctr"/>
          <a:lstStyle/>
          <a:p>
            <a:pPr marL="0" indent="0" algn="ctr">
              <a:buNone/>
            </a:pPr>
            <a:r>
              <a:rPr lang="en-US" sz="1400" dirty="0">
                <a:solidFill>
                  <a:schemeClr val="tx1"/>
                </a:solidFill>
              </a:rPr>
              <a:t>Project u</a:t>
            </a:r>
            <a:r>
              <a:rPr lang="en-US" sz="1400" baseline="-40000" dirty="0">
                <a:solidFill>
                  <a:schemeClr val="tx1"/>
                </a:solidFill>
              </a:rPr>
              <a:t>k−1</a:t>
            </a:r>
            <a:r>
              <a:rPr lang="en-US" sz="1400" dirty="0">
                <a:solidFill>
                  <a:schemeClr val="tx1"/>
                </a:solidFill>
              </a:rPr>
              <a:t> onto Ω</a:t>
            </a:r>
            <a:r>
              <a:rPr lang="en-US" sz="1400" baseline="-40000" dirty="0">
                <a:solidFill>
                  <a:schemeClr val="tx1"/>
                </a:solidFill>
              </a:rPr>
              <a:t>k</a:t>
            </a:r>
            <a:endParaRPr lang="en-US" sz="1400" dirty="0"/>
          </a:p>
        </p:txBody>
      </p:sp>
      <p:sp>
        <p:nvSpPr>
          <p:cNvPr id="23" name="arrow"/>
          <p:cNvSpPr/>
          <p:nvPr/>
        </p:nvSpPr>
        <p:spPr>
          <a:xfrm>
            <a:off x="5935828" y="5440680"/>
            <a:ext cx="320040" cy="274320"/>
          </a:xfrm>
          <a:prstGeom prst="rightArrow">
            <a:avLst/>
          </a:prstGeom>
          <a:solidFill>
            <a:schemeClr val="tx2"/>
          </a:solidFill>
          <a:ln/>
        </p:spPr>
      </p:sp>
      <p:sp>
        <p:nvSpPr>
          <p:cNvPr id="24" name="algorithm step 3"/>
          <p:cNvSpPr/>
          <p:nvPr/>
        </p:nvSpPr>
        <p:spPr>
          <a:xfrm>
            <a:off x="6301588" y="5120640"/>
            <a:ext cx="2464994" cy="914400"/>
          </a:xfrm>
          <a:prstGeom prst="roundRect">
            <a:avLst>
              <a:gd name="adj" fmla="val 8000"/>
            </a:avLst>
          </a:prstGeom>
          <a:solidFill>
            <a:schemeClr val="accent1"/>
          </a:solidFill>
          <a:ln/>
        </p:spPr>
      </p:sp>
      <p:sp>
        <p:nvSpPr>
          <p:cNvPr id="25" name="Text 19"/>
          <p:cNvSpPr txBox="1"/>
          <p:nvPr/>
        </p:nvSpPr>
        <p:spPr>
          <a:xfrm>
            <a:off x="6438748" y="5120640"/>
            <a:ext cx="2190674" cy="914400"/>
          </a:xfrm>
          <a:prstGeom prst="rect">
            <a:avLst/>
          </a:prstGeom>
          <a:noFill/>
          <a:ln/>
        </p:spPr>
        <p:txBody>
          <a:bodyPr wrap="square" lIns="0" tIns="0" rIns="0" bIns="0" rtlCol="0" anchor="ctr"/>
          <a:lstStyle/>
          <a:p>
            <a:pPr marL="0" indent="0" algn="ctr">
              <a:buNone/>
            </a:pPr>
            <a:r>
              <a:rPr lang="en-US" sz="1400" b="1" dirty="0">
                <a:solidFill>
                  <a:schemeClr val="bg1"/>
                </a:solidFill>
              </a:rPr>
              <a:t>One network step → u</a:t>
            </a:r>
            <a:r>
              <a:rPr lang="en-US" sz="1400" b="1" baseline="-40000" dirty="0">
                <a:solidFill>
                  <a:schemeClr val="bg1"/>
                </a:solidFill>
              </a:rPr>
              <a:t>k</a:t>
            </a:r>
            <a:endParaRPr lang="en-US" sz="1400" dirty="0"/>
          </a:p>
        </p:txBody>
      </p:sp>
      <p:sp>
        <p:nvSpPr>
          <p:cNvPr id="26" name="arrow"/>
          <p:cNvSpPr/>
          <p:nvPr/>
        </p:nvSpPr>
        <p:spPr>
          <a:xfrm>
            <a:off x="8812301" y="5440680"/>
            <a:ext cx="320040" cy="274320"/>
          </a:xfrm>
          <a:prstGeom prst="rightArrow">
            <a:avLst/>
          </a:prstGeom>
          <a:solidFill>
            <a:schemeClr val="tx2"/>
          </a:solidFill>
          <a:ln/>
        </p:spPr>
      </p:sp>
      <p:sp>
        <p:nvSpPr>
          <p:cNvPr id="27" name="algorithm step 4"/>
          <p:cNvSpPr/>
          <p:nvPr/>
        </p:nvSpPr>
        <p:spPr>
          <a:xfrm>
            <a:off x="9178061" y="5120640"/>
            <a:ext cx="2464994" cy="914400"/>
          </a:xfrm>
          <a:prstGeom prst="roundRect">
            <a:avLst>
              <a:gd name="adj" fmla="val 8000"/>
            </a:avLst>
          </a:prstGeom>
          <a:solidFill>
            <a:schemeClr val="bg2"/>
          </a:solidFill>
          <a:ln/>
        </p:spPr>
      </p:sp>
      <p:sp>
        <p:nvSpPr>
          <p:cNvPr id="28" name="Text 22"/>
          <p:cNvSpPr txBox="1"/>
          <p:nvPr/>
        </p:nvSpPr>
        <p:spPr>
          <a:xfrm>
            <a:off x="9315221" y="5120640"/>
            <a:ext cx="2190674" cy="914400"/>
          </a:xfrm>
          <a:prstGeom prst="rect">
            <a:avLst/>
          </a:prstGeom>
          <a:noFill/>
          <a:ln/>
        </p:spPr>
        <p:txBody>
          <a:bodyPr wrap="square" lIns="0" tIns="0" rIns="0" bIns="0" rtlCol="0" anchor="ctr"/>
          <a:lstStyle/>
          <a:p>
            <a:pPr marL="0" indent="0" algn="ctr">
              <a:buNone/>
            </a:pPr>
            <a:r>
              <a:rPr lang="en-US" sz="1400" dirty="0">
                <a:solidFill>
                  <a:schemeClr val="tx1"/>
                </a:solidFill>
              </a:rPr>
              <a:t>Send q</a:t>
            </a:r>
            <a:r>
              <a:rPr lang="en-US" sz="1400" baseline="-40000" dirty="0">
                <a:solidFill>
                  <a:schemeClr val="tx1"/>
                </a:solidFill>
              </a:rPr>
              <a:t>cmd,k</a:t>
            </a:r>
            <a:r>
              <a:rPr lang="en-US" sz="1400" dirty="0">
                <a:solidFill>
                  <a:schemeClr val="tx1"/>
                </a:solidFill>
              </a:rPr>
              <a:t> to the slave</a:t>
            </a:r>
            <a:endParaRPr lang="en-US" sz="1400" dirty="0"/>
          </a:p>
        </p:txBody>
      </p:sp>
      <p:sp>
        <p:nvSpPr>
          <p:cNvPr id="29" name="Text 23"/>
          <p:cNvSpPr txBox="1"/>
          <p:nvPr/>
        </p:nvSpPr>
        <p:spPr>
          <a:xfrm>
            <a:off x="548640" y="6144768"/>
            <a:ext cx="11094415" cy="320040"/>
          </a:xfrm>
          <a:prstGeom prst="rect">
            <a:avLst/>
          </a:prstGeom>
          <a:noFill/>
          <a:ln/>
        </p:spPr>
        <p:txBody>
          <a:bodyPr wrap="square" lIns="0" tIns="0" rIns="0" bIns="0" rtlCol="0" anchor="t"/>
          <a:lstStyle/>
          <a:p>
            <a:pPr marL="0" indent="0">
              <a:buNone/>
            </a:pPr>
            <a:r>
              <a:rPr lang="en-US" sz="1200" i="1" dirty="0">
                <a:solidFill>
                  <a:schemeClr val="tx2"/>
                </a:solidFill>
              </a:rPr>
              <a:t>Smaller α: the command changes more smoothly (low-pass filter with inertia 1 − α), but approaches the optimum more slowly.</a:t>
            </a:r>
            <a:endParaRPr lang="en-US" sz="1200" dirty="0"/>
          </a:p>
        </p:txBody>
      </p:sp>
      <p:sp>
        <p:nvSpPr>
          <p:cNvPr id="30"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Convergence Analysis</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The equilibrium is optimal, the error contracts linearly, and the joint limits hold at every instant.</a:t>
            </a:r>
            <a:endParaRPr lang="en-US" sz="1500" dirty="0"/>
          </a:p>
        </p:txBody>
      </p:sp>
      <p:sp>
        <p:nvSpPr>
          <p:cNvPr id="4" name="Theorem 1 card"/>
          <p:cNvSpPr/>
          <p:nvPr/>
        </p:nvSpPr>
        <p:spPr>
          <a:xfrm>
            <a:off x="548640" y="1600200"/>
            <a:ext cx="5364328" cy="1874520"/>
          </a:xfrm>
          <a:prstGeom prst="roundRect">
            <a:avLst>
              <a:gd name="adj" fmla="val 3902"/>
            </a:avLst>
          </a:prstGeom>
          <a:solidFill>
            <a:schemeClr val="bg2"/>
          </a:solidFill>
          <a:ln/>
        </p:spPr>
      </p:sp>
      <p:sp>
        <p:nvSpPr>
          <p:cNvPr id="5" name="icon circle target"/>
          <p:cNvSpPr/>
          <p:nvPr/>
        </p:nvSpPr>
        <p:spPr>
          <a:xfrm>
            <a:off x="5181448" y="1737360"/>
            <a:ext cx="502920" cy="502920"/>
          </a:xfrm>
          <a:prstGeom prst="ellipse">
            <a:avLst/>
          </a:prstGeom>
          <a:solidFill>
            <a:schemeClr val="bg1"/>
          </a:solidFill>
          <a:ln/>
        </p:spPr>
      </p:sp>
      <p:pic>
        <p:nvPicPr>
          <p:cNvPr id="6" name="icon target" descr="target icon"/>
          <p:cNvPicPr>
            <a:picLocks noChangeAspect="1"/>
          </p:cNvPicPr>
          <p:nvPr/>
        </p:nvPicPr>
        <p:blipFill>
          <a:blip r:embed="rId3"/>
          <a:stretch>
            <a:fillRect/>
          </a:stretch>
        </p:blipFill>
        <p:spPr>
          <a:xfrm>
            <a:off x="5307178" y="1863090"/>
            <a:ext cx="251460" cy="251460"/>
          </a:xfrm>
          <a:prstGeom prst="rect">
            <a:avLst/>
          </a:prstGeom>
        </p:spPr>
      </p:pic>
      <p:sp>
        <p:nvSpPr>
          <p:cNvPr id="7" name="Text 4"/>
          <p:cNvSpPr txBox="1"/>
          <p:nvPr/>
        </p:nvSpPr>
        <p:spPr>
          <a:xfrm>
            <a:off x="777240" y="1737360"/>
            <a:ext cx="4267048" cy="365760"/>
          </a:xfrm>
          <a:prstGeom prst="rect">
            <a:avLst/>
          </a:prstGeom>
          <a:noFill/>
          <a:ln/>
        </p:spPr>
        <p:txBody>
          <a:bodyPr wrap="square" lIns="0" tIns="0" rIns="0" bIns="0" rtlCol="0" anchor="t"/>
          <a:lstStyle/>
          <a:p>
            <a:pPr marL="0" indent="0">
              <a:buNone/>
            </a:pPr>
            <a:r>
              <a:rPr lang="en-US" sz="1600" b="1" dirty="0">
                <a:solidFill>
                  <a:schemeClr val="accent1"/>
                </a:solidFill>
              </a:rPr>
              <a:t>Theorem 1  </a:t>
            </a:r>
            <a:r>
              <a:rPr lang="en-US" sz="1600" b="1" dirty="0">
                <a:solidFill>
                  <a:schemeClr val="tx1"/>
                </a:solidFill>
              </a:rPr>
              <a:t>Optimal equilibrium</a:t>
            </a:r>
            <a:endParaRPr lang="en-US" sz="1600" dirty="0"/>
          </a:p>
        </p:txBody>
      </p:sp>
      <p:pic>
        <p:nvPicPr>
          <p:cNvPr id="8" name="eq_thm1" descr="Equation thm1"/>
          <p:cNvPicPr>
            <a:picLocks noChangeAspect="1"/>
          </p:cNvPicPr>
          <p:nvPr/>
        </p:nvPicPr>
        <p:blipFill>
          <a:blip r:embed="rId4"/>
          <a:stretch>
            <a:fillRect/>
          </a:stretch>
        </p:blipFill>
        <p:spPr>
          <a:xfrm>
            <a:off x="777240" y="2194560"/>
            <a:ext cx="1830629" cy="352044"/>
          </a:xfrm>
          <a:prstGeom prst="rect">
            <a:avLst/>
          </a:prstGeom>
        </p:spPr>
      </p:pic>
      <p:sp>
        <p:nvSpPr>
          <p:cNvPr id="9" name="Text 5"/>
          <p:cNvSpPr txBox="1"/>
          <p:nvPr/>
        </p:nvSpPr>
        <p:spPr>
          <a:xfrm>
            <a:off x="777240" y="2743200"/>
            <a:ext cx="4907128" cy="685800"/>
          </a:xfrm>
          <a:prstGeom prst="rect">
            <a:avLst/>
          </a:prstGeom>
          <a:noFill/>
          <a:ln/>
        </p:spPr>
        <p:txBody>
          <a:bodyPr wrap="square" lIns="0" tIns="0" rIns="0" bIns="0" rtlCol="0" anchor="t"/>
          <a:lstStyle/>
          <a:p>
            <a:pPr marL="0" indent="0">
              <a:buNone/>
            </a:pPr>
            <a:r>
              <a:rPr lang="en-US" sz="1300" dirty="0">
                <a:solidFill>
                  <a:schemeClr val="tx1"/>
                </a:solidFill>
              </a:rPr>
              <a:t>H</a:t>
            </a:r>
            <a:r>
              <a:rPr lang="en-US" sz="1300" baseline="-40000" dirty="0">
                <a:solidFill>
                  <a:schemeClr val="tx1"/>
                </a:solidFill>
              </a:rPr>
              <a:t>k</a:t>
            </a:r>
            <a:r>
              <a:rPr lang="en-US" sz="1300" dirty="0">
                <a:solidFill>
                  <a:schemeClr val="tx1"/>
                </a:solidFill>
              </a:rPr>
              <a:t> is positive definite, so the QP has one optimum, and it is the equilibrium of the network.</a:t>
            </a:r>
            <a:endParaRPr lang="en-US" sz="1300" dirty="0"/>
          </a:p>
        </p:txBody>
      </p:sp>
      <p:sp>
        <p:nvSpPr>
          <p:cNvPr id="10" name="Lemma 1 card"/>
          <p:cNvSpPr/>
          <p:nvPr/>
        </p:nvSpPr>
        <p:spPr>
          <a:xfrm>
            <a:off x="6278728" y="1600200"/>
            <a:ext cx="5364328" cy="1874520"/>
          </a:xfrm>
          <a:prstGeom prst="roundRect">
            <a:avLst>
              <a:gd name="adj" fmla="val 3902"/>
            </a:avLst>
          </a:prstGeom>
          <a:solidFill>
            <a:schemeClr val="bg2"/>
          </a:solidFill>
          <a:ln/>
        </p:spPr>
      </p:sp>
      <p:sp>
        <p:nvSpPr>
          <p:cNvPr id="11" name="icon circle arrows"/>
          <p:cNvSpPr/>
          <p:nvPr/>
        </p:nvSpPr>
        <p:spPr>
          <a:xfrm>
            <a:off x="10911535" y="1737360"/>
            <a:ext cx="502920" cy="502920"/>
          </a:xfrm>
          <a:prstGeom prst="ellipse">
            <a:avLst/>
          </a:prstGeom>
          <a:solidFill>
            <a:schemeClr val="bg1"/>
          </a:solidFill>
          <a:ln/>
        </p:spPr>
      </p:sp>
      <p:pic>
        <p:nvPicPr>
          <p:cNvPr id="12" name="icon arrows" descr="arrows icon"/>
          <p:cNvPicPr>
            <a:picLocks noChangeAspect="1"/>
          </p:cNvPicPr>
          <p:nvPr/>
        </p:nvPicPr>
        <p:blipFill>
          <a:blip r:embed="rId5"/>
          <a:stretch>
            <a:fillRect/>
          </a:stretch>
        </p:blipFill>
        <p:spPr>
          <a:xfrm>
            <a:off x="11037265" y="1863090"/>
            <a:ext cx="251460" cy="251460"/>
          </a:xfrm>
          <a:prstGeom prst="rect">
            <a:avLst/>
          </a:prstGeom>
        </p:spPr>
      </p:pic>
      <p:sp>
        <p:nvSpPr>
          <p:cNvPr id="13" name="Text 8"/>
          <p:cNvSpPr txBox="1"/>
          <p:nvPr/>
        </p:nvSpPr>
        <p:spPr>
          <a:xfrm>
            <a:off x="6507328" y="1737360"/>
            <a:ext cx="4267048" cy="365760"/>
          </a:xfrm>
          <a:prstGeom prst="rect">
            <a:avLst/>
          </a:prstGeom>
          <a:noFill/>
          <a:ln/>
        </p:spPr>
        <p:txBody>
          <a:bodyPr wrap="square" lIns="0" tIns="0" rIns="0" bIns="0" rtlCol="0" anchor="t"/>
          <a:lstStyle/>
          <a:p>
            <a:pPr marL="0" indent="0">
              <a:buNone/>
            </a:pPr>
            <a:r>
              <a:rPr lang="en-US" sz="1600" b="1" dirty="0">
                <a:solidFill>
                  <a:schemeClr val="accent1"/>
                </a:solidFill>
              </a:rPr>
              <a:t>Lemma 1  </a:t>
            </a:r>
            <a:r>
              <a:rPr lang="en-US" sz="1600" b="1" dirty="0">
                <a:solidFill>
                  <a:schemeClr val="tx1"/>
                </a:solidFill>
              </a:rPr>
              <a:t>Non-expansive projection</a:t>
            </a:r>
            <a:endParaRPr lang="en-US" sz="1600" dirty="0"/>
          </a:p>
        </p:txBody>
      </p:sp>
      <p:pic>
        <p:nvPicPr>
          <p:cNvPr id="14" name="eq_lem1" descr="Equation lem1"/>
          <p:cNvPicPr>
            <a:picLocks noChangeAspect="1"/>
          </p:cNvPicPr>
          <p:nvPr/>
        </p:nvPicPr>
        <p:blipFill>
          <a:blip r:embed="rId6"/>
          <a:stretch>
            <a:fillRect/>
          </a:stretch>
        </p:blipFill>
        <p:spPr>
          <a:xfrm>
            <a:off x="6507328" y="2194560"/>
            <a:ext cx="2950769" cy="334975"/>
          </a:xfrm>
          <a:prstGeom prst="rect">
            <a:avLst/>
          </a:prstGeom>
        </p:spPr>
      </p:pic>
      <p:sp>
        <p:nvSpPr>
          <p:cNvPr id="15" name="Text 9"/>
          <p:cNvSpPr txBox="1"/>
          <p:nvPr/>
        </p:nvSpPr>
        <p:spPr>
          <a:xfrm>
            <a:off x="6507328" y="2743200"/>
            <a:ext cx="4907128" cy="685800"/>
          </a:xfrm>
          <a:prstGeom prst="rect">
            <a:avLst/>
          </a:prstGeom>
          <a:noFill/>
          <a:ln/>
        </p:spPr>
        <p:txBody>
          <a:bodyPr wrap="square" lIns="0" tIns="0" rIns="0" bIns="0" rtlCol="0" anchor="t"/>
          <a:lstStyle/>
          <a:p>
            <a:pPr marL="0" indent="0">
              <a:buNone/>
            </a:pPr>
            <a:r>
              <a:rPr lang="en-US" sz="1300" dirty="0">
                <a:solidFill>
                  <a:schemeClr val="tx1"/>
                </a:solidFill>
              </a:rPr>
              <a:t>Projection onto the box never increases distances.</a:t>
            </a:r>
            <a:endParaRPr lang="en-US" sz="1300" dirty="0"/>
          </a:p>
        </p:txBody>
      </p:sp>
      <p:sp>
        <p:nvSpPr>
          <p:cNvPr id="16" name="Theorem 2 card"/>
          <p:cNvSpPr/>
          <p:nvPr/>
        </p:nvSpPr>
        <p:spPr>
          <a:xfrm>
            <a:off x="548640" y="3749040"/>
            <a:ext cx="5364328" cy="1874520"/>
          </a:xfrm>
          <a:prstGeom prst="roundRect">
            <a:avLst>
              <a:gd name="adj" fmla="val 3902"/>
            </a:avLst>
          </a:prstGeom>
          <a:solidFill>
            <a:schemeClr val="bg2"/>
          </a:solidFill>
          <a:ln/>
        </p:spPr>
      </p:sp>
      <p:sp>
        <p:nvSpPr>
          <p:cNvPr id="17" name="icon circle gauge"/>
          <p:cNvSpPr/>
          <p:nvPr/>
        </p:nvSpPr>
        <p:spPr>
          <a:xfrm>
            <a:off x="5181448" y="3886200"/>
            <a:ext cx="502920" cy="502920"/>
          </a:xfrm>
          <a:prstGeom prst="ellipse">
            <a:avLst/>
          </a:prstGeom>
          <a:solidFill>
            <a:schemeClr val="bg1"/>
          </a:solidFill>
          <a:ln/>
        </p:spPr>
      </p:sp>
      <p:pic>
        <p:nvPicPr>
          <p:cNvPr id="18" name="icon gauge" descr="gauge icon"/>
          <p:cNvPicPr>
            <a:picLocks noChangeAspect="1"/>
          </p:cNvPicPr>
          <p:nvPr/>
        </p:nvPicPr>
        <p:blipFill>
          <a:blip r:embed="rId7"/>
          <a:stretch>
            <a:fillRect/>
          </a:stretch>
        </p:blipFill>
        <p:spPr>
          <a:xfrm>
            <a:off x="5307178" y="4011930"/>
            <a:ext cx="251460" cy="251460"/>
          </a:xfrm>
          <a:prstGeom prst="rect">
            <a:avLst/>
          </a:prstGeom>
        </p:spPr>
      </p:pic>
      <p:sp>
        <p:nvSpPr>
          <p:cNvPr id="19" name="Text 12"/>
          <p:cNvSpPr txBox="1"/>
          <p:nvPr/>
        </p:nvSpPr>
        <p:spPr>
          <a:xfrm>
            <a:off x="777240" y="3886200"/>
            <a:ext cx="4267048" cy="365760"/>
          </a:xfrm>
          <a:prstGeom prst="rect">
            <a:avLst/>
          </a:prstGeom>
          <a:noFill/>
          <a:ln/>
        </p:spPr>
        <p:txBody>
          <a:bodyPr wrap="square" lIns="0" tIns="0" rIns="0" bIns="0" rtlCol="0" anchor="t"/>
          <a:lstStyle/>
          <a:p>
            <a:pPr marL="0" indent="0">
              <a:buNone/>
            </a:pPr>
            <a:r>
              <a:rPr lang="en-US" sz="1600" b="1" dirty="0">
                <a:solidFill>
                  <a:schemeClr val="accent1"/>
                </a:solidFill>
              </a:rPr>
              <a:t>Theorem 2  </a:t>
            </a:r>
            <a:r>
              <a:rPr lang="en-US" sz="1600" b="1" dirty="0">
                <a:solidFill>
                  <a:schemeClr val="tx1"/>
                </a:solidFill>
              </a:rPr>
              <a:t>Linear convergence</a:t>
            </a:r>
            <a:endParaRPr lang="en-US" sz="1600" dirty="0"/>
          </a:p>
        </p:txBody>
      </p:sp>
      <p:pic>
        <p:nvPicPr>
          <p:cNvPr id="20" name="eq_thm2" descr="Equation thm2"/>
          <p:cNvPicPr>
            <a:picLocks noChangeAspect="1"/>
          </p:cNvPicPr>
          <p:nvPr/>
        </p:nvPicPr>
        <p:blipFill>
          <a:blip r:embed="rId8"/>
          <a:stretch>
            <a:fillRect/>
          </a:stretch>
        </p:blipFill>
        <p:spPr>
          <a:xfrm>
            <a:off x="777240" y="4343400"/>
            <a:ext cx="4590654" cy="331927"/>
          </a:xfrm>
          <a:prstGeom prst="rect">
            <a:avLst/>
          </a:prstGeom>
        </p:spPr>
      </p:pic>
      <p:sp>
        <p:nvSpPr>
          <p:cNvPr id="21" name="Text 13"/>
          <p:cNvSpPr txBox="1"/>
          <p:nvPr/>
        </p:nvSpPr>
        <p:spPr>
          <a:xfrm>
            <a:off x="777240" y="4892040"/>
            <a:ext cx="4907128" cy="685800"/>
          </a:xfrm>
          <a:prstGeom prst="rect">
            <a:avLst/>
          </a:prstGeom>
          <a:noFill/>
          <a:ln/>
        </p:spPr>
        <p:txBody>
          <a:bodyPr wrap="square" lIns="0" tIns="0" rIns="0" bIns="0" rtlCol="0" anchor="t"/>
          <a:lstStyle/>
          <a:p>
            <a:pPr marL="0" indent="0">
              <a:buNone/>
            </a:pPr>
            <a:r>
              <a:rPr lang="en-US" sz="1300" dirty="0">
                <a:solidFill>
                  <a:schemeClr val="tx1"/>
                </a:solidFill>
              </a:rPr>
              <a:t>If 0 &lt; α ≤ 1 and 0 &lt; γ &lt; 2/σ̄</a:t>
            </a:r>
            <a:r>
              <a:rPr lang="en-US" sz="1300" baseline="-40000" dirty="0">
                <a:solidFill>
                  <a:schemeClr val="tx1"/>
                </a:solidFill>
              </a:rPr>
              <a:t>k</a:t>
            </a:r>
            <a:r>
              <a:rPr lang="en-US" sz="1300" dirty="0">
                <a:solidFill>
                  <a:schemeClr val="tx1"/>
                </a:solidFill>
              </a:rPr>
              <a:t>, then ρ</a:t>
            </a:r>
            <a:r>
              <a:rPr lang="en-US" sz="1300" baseline="-40000" dirty="0">
                <a:solidFill>
                  <a:schemeClr val="tx1"/>
                </a:solidFill>
              </a:rPr>
              <a:t>k</a:t>
            </a:r>
            <a:r>
              <a:rPr lang="en-US" sz="1300" dirty="0">
                <a:solidFill>
                  <a:schemeClr val="tx1"/>
                </a:solidFill>
              </a:rPr>
              <a:t> &lt; 1; for a fixed QP, convergence is global and linear.</a:t>
            </a:r>
            <a:endParaRPr lang="en-US" sz="1300" dirty="0"/>
          </a:p>
        </p:txBody>
      </p:sp>
      <p:sp>
        <p:nvSpPr>
          <p:cNvPr id="22" name="Theorem 3 card"/>
          <p:cNvSpPr/>
          <p:nvPr/>
        </p:nvSpPr>
        <p:spPr>
          <a:xfrm>
            <a:off x="6278728" y="3749040"/>
            <a:ext cx="5364328" cy="1874520"/>
          </a:xfrm>
          <a:prstGeom prst="roundRect">
            <a:avLst>
              <a:gd name="adj" fmla="val 3902"/>
            </a:avLst>
          </a:prstGeom>
          <a:solidFill>
            <a:schemeClr val="bg2"/>
          </a:solidFill>
          <a:ln/>
        </p:spPr>
      </p:sp>
      <p:sp>
        <p:nvSpPr>
          <p:cNvPr id="23" name="icon circle shield"/>
          <p:cNvSpPr/>
          <p:nvPr/>
        </p:nvSpPr>
        <p:spPr>
          <a:xfrm>
            <a:off x="10911535" y="3886200"/>
            <a:ext cx="502920" cy="502920"/>
          </a:xfrm>
          <a:prstGeom prst="ellipse">
            <a:avLst/>
          </a:prstGeom>
          <a:solidFill>
            <a:schemeClr val="bg1"/>
          </a:solidFill>
          <a:ln/>
        </p:spPr>
      </p:sp>
      <p:pic>
        <p:nvPicPr>
          <p:cNvPr id="24" name="icon shield" descr="shield icon"/>
          <p:cNvPicPr>
            <a:picLocks noChangeAspect="1"/>
          </p:cNvPicPr>
          <p:nvPr/>
        </p:nvPicPr>
        <p:blipFill>
          <a:blip r:embed="rId9"/>
          <a:stretch>
            <a:fillRect/>
          </a:stretch>
        </p:blipFill>
        <p:spPr>
          <a:xfrm>
            <a:off x="11037265" y="4011930"/>
            <a:ext cx="251460" cy="251460"/>
          </a:xfrm>
          <a:prstGeom prst="rect">
            <a:avLst/>
          </a:prstGeom>
        </p:spPr>
      </p:pic>
      <p:sp>
        <p:nvSpPr>
          <p:cNvPr id="25" name="Text 16"/>
          <p:cNvSpPr txBox="1"/>
          <p:nvPr/>
        </p:nvSpPr>
        <p:spPr>
          <a:xfrm>
            <a:off x="6507328" y="3886200"/>
            <a:ext cx="4267048" cy="365760"/>
          </a:xfrm>
          <a:prstGeom prst="rect">
            <a:avLst/>
          </a:prstGeom>
          <a:noFill/>
          <a:ln/>
        </p:spPr>
        <p:txBody>
          <a:bodyPr wrap="square" lIns="0" tIns="0" rIns="0" bIns="0" rtlCol="0" anchor="t"/>
          <a:lstStyle/>
          <a:p>
            <a:pPr marL="0" indent="0">
              <a:buNone/>
            </a:pPr>
            <a:r>
              <a:rPr lang="en-US" sz="1600" b="1" dirty="0">
                <a:solidFill>
                  <a:schemeClr val="accent1"/>
                </a:solidFill>
              </a:rPr>
              <a:t>Theorem 3  </a:t>
            </a:r>
            <a:r>
              <a:rPr lang="en-US" sz="1600" b="1" dirty="0">
                <a:solidFill>
                  <a:schemeClr val="tx1"/>
                </a:solidFill>
              </a:rPr>
              <a:t>Joint limits at every instant</a:t>
            </a:r>
            <a:endParaRPr lang="en-US" sz="1600" dirty="0"/>
          </a:p>
        </p:txBody>
      </p:sp>
      <p:pic>
        <p:nvPicPr>
          <p:cNvPr id="26" name="eq_thm3" descr="Equation thm3"/>
          <p:cNvPicPr>
            <a:picLocks noChangeAspect="1"/>
          </p:cNvPicPr>
          <p:nvPr/>
        </p:nvPicPr>
        <p:blipFill>
          <a:blip r:embed="rId10"/>
          <a:stretch>
            <a:fillRect/>
          </a:stretch>
        </p:blipFill>
        <p:spPr>
          <a:xfrm>
            <a:off x="6507328" y="4343400"/>
            <a:ext cx="4369613" cy="339242"/>
          </a:xfrm>
          <a:prstGeom prst="rect">
            <a:avLst/>
          </a:prstGeom>
        </p:spPr>
      </p:pic>
      <p:sp>
        <p:nvSpPr>
          <p:cNvPr id="27" name="Text 17"/>
          <p:cNvSpPr txBox="1"/>
          <p:nvPr/>
        </p:nvSpPr>
        <p:spPr>
          <a:xfrm>
            <a:off x="6507328" y="4892040"/>
            <a:ext cx="4907128" cy="685800"/>
          </a:xfrm>
          <a:prstGeom prst="rect">
            <a:avLst/>
          </a:prstGeom>
          <a:noFill/>
          <a:ln/>
        </p:spPr>
        <p:txBody>
          <a:bodyPr wrap="square" lIns="0" tIns="0" rIns="0" bIns="0" rtlCol="0" anchor="t"/>
          <a:lstStyle/>
          <a:p>
            <a:pPr marL="0" indent="0">
              <a:buNone/>
            </a:pPr>
            <a:r>
              <a:rPr lang="en-US" sz="1300" dirty="0">
                <a:solidFill>
                  <a:schemeClr val="tx1"/>
                </a:solidFill>
              </a:rPr>
              <a:t>Holds whether or not u</a:t>
            </a:r>
            <a:r>
              <a:rPr lang="en-US" sz="1300" baseline="-40000" dirty="0">
                <a:solidFill>
                  <a:schemeClr val="tx1"/>
                </a:solidFill>
              </a:rPr>
              <a:t>k</a:t>
            </a:r>
            <a:r>
              <a:rPr lang="en-US" sz="1300" dirty="0">
                <a:solidFill>
                  <a:schemeClr val="tx1"/>
                </a:solidFill>
              </a:rPr>
              <a:t> has reached the optimum, i.e., even with one iteration.</a:t>
            </a:r>
            <a:endParaRPr lang="en-US" sz="1300" dirty="0"/>
          </a:p>
        </p:txBody>
      </p:sp>
      <p:sp>
        <p:nvSpPr>
          <p:cNvPr id="28" name="Text 18"/>
          <p:cNvSpPr txBox="1"/>
          <p:nvPr/>
        </p:nvSpPr>
        <p:spPr>
          <a:xfrm>
            <a:off x="548640" y="5897880"/>
            <a:ext cx="11094415" cy="457200"/>
          </a:xfrm>
          <a:prstGeom prst="rect">
            <a:avLst/>
          </a:prstGeom>
          <a:noFill/>
          <a:ln/>
        </p:spPr>
        <p:txBody>
          <a:bodyPr wrap="square" lIns="0" tIns="0" rIns="0" bIns="0" rtlCol="0" anchor="t"/>
          <a:lstStyle/>
          <a:p>
            <a:pPr marL="0" indent="0">
              <a:buNone/>
            </a:pPr>
            <a:r>
              <a:rPr lang="en-US" sz="1300" b="1" dirty="0">
                <a:solidFill>
                  <a:schemeClr val="accent1"/>
                </a:solidFill>
              </a:rPr>
              <a:t>Accuracy bound: </a:t>
            </a:r>
            <a:r>
              <a:rPr lang="en-US" sz="1300" dirty="0">
                <a:solidFill>
                  <a:schemeClr val="tx1"/>
                </a:solidFill>
              </a:rPr>
              <a:t>Theorem 3 also bounds the distance to the optimum by a residual that can be computed online at every time instant.</a:t>
            </a:r>
            <a:endParaRPr lang="en-US" sz="1300" dirty="0"/>
          </a:p>
        </p:txBody>
      </p:sp>
      <p:sp>
        <p:nvSpPr>
          <p:cNvPr id="29"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What the Theory Means in Practice</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The error shrinks linearly, and the joint limits hold even before convergence.</a:t>
            </a:r>
            <a:endParaRPr lang="en-US" sz="1500" dirty="0"/>
          </a:p>
        </p:txBody>
      </p:sp>
      <p:sp>
        <p:nvSpPr>
          <p:cNvPr id="4" name="illustration card"/>
          <p:cNvSpPr/>
          <p:nvPr/>
        </p:nvSpPr>
        <p:spPr>
          <a:xfrm>
            <a:off x="548640" y="1600200"/>
            <a:ext cx="4206240" cy="4572000"/>
          </a:xfrm>
          <a:prstGeom prst="roundRect">
            <a:avLst>
              <a:gd name="adj" fmla="val 1739"/>
            </a:avLst>
          </a:prstGeom>
          <a:solidFill>
            <a:schemeClr val="bg2"/>
          </a:solidFill>
          <a:ln/>
        </p:spPr>
      </p:sp>
      <p:pic>
        <p:nvPicPr>
          <p:cNvPr id="5" name="Distance to the optimum versus iterations" descr="Distance to the optimum versus iterations"/>
          <p:cNvPicPr>
            <a:picLocks noChangeAspect="1"/>
          </p:cNvPicPr>
          <p:nvPr/>
        </p:nvPicPr>
        <p:blipFill>
          <a:blip r:embed="rId3"/>
          <a:stretch>
            <a:fillRect/>
          </a:stretch>
        </p:blipFill>
        <p:spPr>
          <a:xfrm>
            <a:off x="822960" y="1828800"/>
            <a:ext cx="3657600" cy="2799318"/>
          </a:xfrm>
          <a:prstGeom prst="rect">
            <a:avLst/>
          </a:prstGeom>
        </p:spPr>
      </p:pic>
      <p:sp>
        <p:nvSpPr>
          <p:cNvPr id="6" name="Text 3"/>
          <p:cNvSpPr txBox="1"/>
          <p:nvPr/>
        </p:nvSpPr>
        <p:spPr>
          <a:xfrm>
            <a:off x="731520" y="4765278"/>
            <a:ext cx="3840480" cy="457200"/>
          </a:xfrm>
          <a:prstGeom prst="rect">
            <a:avLst/>
          </a:prstGeom>
          <a:noFill/>
          <a:ln/>
        </p:spPr>
        <p:txBody>
          <a:bodyPr wrap="square" lIns="0" tIns="0" rIns="0" bIns="0" rtlCol="0" anchor="t"/>
          <a:lstStyle/>
          <a:p>
            <a:pPr marL="0" indent="0" algn="ctr">
              <a:buNone/>
            </a:pPr>
            <a:r>
              <a:rPr lang="en-US" sz="1100" dirty="0">
                <a:solidFill>
                  <a:schemeClr val="tx2"/>
                </a:solidFill>
              </a:rPr>
              <a:t>Illustration on a fixed 2-D QP (not from the paper): the distance to the optimum decays linearly on a log scale, below the bound ρᵏ; α = 0.2 is slower but smoother</a:t>
            </a:r>
            <a:endParaRPr lang="en-US" sz="1100" dirty="0"/>
          </a:p>
        </p:txBody>
      </p:sp>
      <p:pic>
        <p:nvPicPr>
          <p:cNvPr id="7" name="Joints 4 to 6, master-arm mode, alpha 1" descr="Joints 4 to 6, master-arm mode, alpha 1"/>
          <p:cNvPicPr>
            <a:picLocks noChangeAspect="1"/>
          </p:cNvPicPr>
          <p:nvPr/>
        </p:nvPicPr>
        <p:blipFill>
          <a:blip r:embed="rId4"/>
          <a:stretch>
            <a:fillRect/>
          </a:stretch>
        </p:blipFill>
        <p:spPr>
          <a:xfrm>
            <a:off x="6257267" y="1554480"/>
            <a:ext cx="4249161" cy="3017520"/>
          </a:xfrm>
          <a:prstGeom prst="rect">
            <a:avLst/>
          </a:prstGeom>
        </p:spPr>
      </p:pic>
      <p:sp>
        <p:nvSpPr>
          <p:cNvPr id="8" name="Text 4"/>
          <p:cNvSpPr txBox="1"/>
          <p:nvPr/>
        </p:nvSpPr>
        <p:spPr>
          <a:xfrm>
            <a:off x="5120640" y="4599432"/>
            <a:ext cx="6522415" cy="457200"/>
          </a:xfrm>
          <a:prstGeom prst="rect">
            <a:avLst/>
          </a:prstGeom>
          <a:noFill/>
          <a:ln/>
        </p:spPr>
        <p:txBody>
          <a:bodyPr wrap="square" lIns="0" tIns="0" rIns="0" bIns="0" rtlCol="0" anchor="t"/>
          <a:lstStyle/>
          <a:p>
            <a:pPr marL="0" indent="0" algn="ctr">
              <a:buNone/>
            </a:pPr>
            <a:r>
              <a:rPr lang="en-US" sz="1100" dirty="0">
                <a:solidFill>
                  <a:schemeClr val="tx2"/>
                </a:solidFill>
              </a:rPr>
              <a:t>Commanded and measured angles of joints 4–6, master-arm mode, α = 1 (paper figure)</a:t>
            </a:r>
            <a:endParaRPr lang="en-US" sz="1100" dirty="0"/>
          </a:p>
        </p:txBody>
      </p:sp>
      <p:sp>
        <p:nvSpPr>
          <p:cNvPr id="9" name="Text 5"/>
          <p:cNvSpPr txBox="1"/>
          <p:nvPr/>
        </p:nvSpPr>
        <p:spPr>
          <a:xfrm>
            <a:off x="5120640" y="4846320"/>
            <a:ext cx="3124048" cy="640080"/>
          </a:xfrm>
          <a:prstGeom prst="rect">
            <a:avLst/>
          </a:prstGeom>
          <a:noFill/>
          <a:ln/>
        </p:spPr>
        <p:txBody>
          <a:bodyPr wrap="square" lIns="0" tIns="0" rIns="0" bIns="0" rtlCol="0" anchor="b"/>
          <a:lstStyle/>
          <a:p>
            <a:pPr marL="0" indent="0">
              <a:buNone/>
            </a:pPr>
            <a:r>
              <a:rPr lang="en-US" sz="3600" b="1" dirty="0">
                <a:solidFill>
                  <a:schemeClr val="accent1"/>
                </a:solidFill>
              </a:rPr>
              <a:t>65°</a:t>
            </a:r>
            <a:endParaRPr lang="en-US" sz="3600" dirty="0"/>
          </a:p>
        </p:txBody>
      </p:sp>
      <p:sp>
        <p:nvSpPr>
          <p:cNvPr id="10" name="Text 6"/>
          <p:cNvSpPr txBox="1"/>
          <p:nvPr/>
        </p:nvSpPr>
        <p:spPr>
          <a:xfrm>
            <a:off x="5120640" y="5532120"/>
            <a:ext cx="3124048" cy="502920"/>
          </a:xfrm>
          <a:prstGeom prst="rect">
            <a:avLst/>
          </a:prstGeom>
          <a:noFill/>
          <a:ln/>
        </p:spPr>
        <p:txBody>
          <a:bodyPr wrap="square" lIns="0" tIns="0" rIns="0" bIns="0" rtlCol="0" anchor="t"/>
          <a:lstStyle/>
          <a:p>
            <a:pPr marL="0" indent="0">
              <a:buNone/>
            </a:pPr>
            <a:r>
              <a:rPr lang="en-US" sz="1300" dirty="0">
                <a:solidFill>
                  <a:schemeClr val="tx2"/>
                </a:solidFill>
              </a:rPr>
              <a:t>upper limit of joint 5, where it often rests</a:t>
            </a:r>
            <a:endParaRPr lang="en-US" sz="1300" dirty="0"/>
          </a:p>
        </p:txBody>
      </p:sp>
      <p:sp>
        <p:nvSpPr>
          <p:cNvPr id="11" name="Text 7"/>
          <p:cNvSpPr txBox="1"/>
          <p:nvPr/>
        </p:nvSpPr>
        <p:spPr>
          <a:xfrm>
            <a:off x="8519008" y="4846320"/>
            <a:ext cx="3124048" cy="640080"/>
          </a:xfrm>
          <a:prstGeom prst="rect">
            <a:avLst/>
          </a:prstGeom>
          <a:noFill/>
          <a:ln/>
        </p:spPr>
        <p:txBody>
          <a:bodyPr wrap="square" lIns="0" tIns="0" rIns="0" bIns="0" rtlCol="0" anchor="b"/>
          <a:lstStyle/>
          <a:p>
            <a:pPr marL="0" indent="0">
              <a:buNone/>
            </a:pPr>
            <a:r>
              <a:rPr lang="en-US" sz="3600" b="1" dirty="0">
                <a:solidFill>
                  <a:schemeClr val="accent2"/>
                </a:solidFill>
              </a:rPr>
              <a:t>0</a:t>
            </a:r>
            <a:endParaRPr lang="en-US" sz="3600" dirty="0"/>
          </a:p>
        </p:txBody>
      </p:sp>
      <p:sp>
        <p:nvSpPr>
          <p:cNvPr id="12" name="Text 8"/>
          <p:cNvSpPr txBox="1"/>
          <p:nvPr/>
        </p:nvSpPr>
        <p:spPr>
          <a:xfrm>
            <a:off x="8519008" y="5532120"/>
            <a:ext cx="3124048" cy="502920"/>
          </a:xfrm>
          <a:prstGeom prst="rect">
            <a:avLst/>
          </a:prstGeom>
          <a:noFill/>
          <a:ln/>
        </p:spPr>
        <p:txBody>
          <a:bodyPr wrap="square" lIns="0" tIns="0" rIns="0" bIns="0" rtlCol="0" anchor="t"/>
          <a:lstStyle/>
          <a:p>
            <a:pPr marL="0" indent="0">
              <a:buNone/>
            </a:pPr>
            <a:r>
              <a:rPr lang="en-US" sz="1300" dirty="0">
                <a:solidFill>
                  <a:schemeClr val="tx2"/>
                </a:solidFill>
              </a:rPr>
              <a:t>commanded angles outside the limits in both master-arm trials (Theorem 3)</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Application 1: Heterogeneous Master–Slave Teleoperation</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An SO101 master arm teleoperates a Piper slave arm; the master's end-effector pose is the desired pose.</a:t>
            </a:r>
            <a:endParaRPr lang="en-US" sz="1500" dirty="0"/>
          </a:p>
        </p:txBody>
      </p:sp>
      <p:pic>
        <p:nvPicPr>
          <p:cNvPr id="4" name="Looping clip master" descr="Looping clip master"/>
          <p:cNvPicPr>
            <a:picLocks noChangeAspect="1"/>
          </p:cNvPicPr>
          <p:nvPr/>
        </p:nvPicPr>
        <p:blipFill>
          <a:blip r:embed="rId3"/>
          <a:stretch>
            <a:fillRect/>
          </a:stretch>
        </p:blipFill>
        <p:spPr>
          <a:xfrm>
            <a:off x="548640" y="1600200"/>
            <a:ext cx="11094415" cy="3134172"/>
          </a:xfrm>
          <a:prstGeom prst="rect">
            <a:avLst/>
          </a:prstGeom>
        </p:spPr>
      </p:pic>
      <p:sp>
        <p:nvSpPr>
          <p:cNvPr id="5" name="speed tag"/>
          <p:cNvSpPr/>
          <p:nvPr/>
        </p:nvSpPr>
        <p:spPr>
          <a:xfrm>
            <a:off x="11140135" y="4441764"/>
            <a:ext cx="502920" cy="292608"/>
          </a:xfrm>
          <a:prstGeom prst="rect">
            <a:avLst/>
          </a:prstGeom>
          <a:solidFill>
            <a:srgbClr val="000000">
              <a:alpha val="60000"/>
            </a:srgbClr>
          </a:solidFill>
          <a:ln/>
        </p:spPr>
      </p:sp>
      <p:sp>
        <p:nvSpPr>
          <p:cNvPr id="6" name="Text 3"/>
          <p:cNvSpPr txBox="1"/>
          <p:nvPr/>
        </p:nvSpPr>
        <p:spPr>
          <a:xfrm>
            <a:off x="11140135" y="4441764"/>
            <a:ext cx="502920" cy="292608"/>
          </a:xfrm>
          <a:prstGeom prst="rect">
            <a:avLst/>
          </a:prstGeom>
          <a:noFill/>
          <a:ln/>
        </p:spPr>
        <p:txBody>
          <a:bodyPr wrap="square" lIns="0" tIns="0" rIns="0" bIns="0" rtlCol="0" anchor="ctr"/>
          <a:lstStyle/>
          <a:p>
            <a:pPr marL="0" indent="0" algn="ctr">
              <a:buNone/>
            </a:pPr>
            <a:r>
              <a:rPr lang="en-US" sz="1200" b="1" dirty="0">
                <a:solidFill>
                  <a:srgbClr val="FFFFFF"/>
                </a:solidFill>
              </a:rPr>
              <a:t>2x</a:t>
            </a:r>
            <a:endParaRPr lang="en-US" sz="1200" dirty="0"/>
          </a:p>
        </p:txBody>
      </p:sp>
      <p:sp>
        <p:nvSpPr>
          <p:cNvPr id="7" name="Text 4"/>
          <p:cNvSpPr txBox="1"/>
          <p:nvPr/>
        </p:nvSpPr>
        <p:spPr>
          <a:xfrm>
            <a:off x="548640" y="4789236"/>
            <a:ext cx="11094415" cy="457200"/>
          </a:xfrm>
          <a:prstGeom prst="rect">
            <a:avLst/>
          </a:prstGeom>
          <a:noFill/>
          <a:ln/>
        </p:spPr>
        <p:txBody>
          <a:bodyPr wrap="square" lIns="0" tIns="0" rIns="0" bIns="0" rtlCol="0" anchor="t"/>
          <a:lstStyle/>
          <a:p>
            <a:pPr marL="0" indent="0" algn="ctr">
              <a:buNone/>
            </a:pPr>
            <a:r>
              <a:rPr lang="en-US" sz="1200" dirty="0">
                <a:solidFill>
                  <a:schemeClr val="tx2"/>
                </a:solidFill>
              </a:rPr>
              <a:t>Simulation views with model-based coverage (left, center) and camera view of the real arms (right)</a:t>
            </a:r>
            <a:endParaRPr lang="en-US" sz="1200" dirty="0"/>
          </a:p>
        </p:txBody>
      </p:sp>
      <p:sp>
        <p:nvSpPr>
          <p:cNvPr id="8" name="Arms card"/>
          <p:cNvSpPr/>
          <p:nvPr/>
        </p:nvSpPr>
        <p:spPr>
          <a:xfrm>
            <a:off x="548640" y="5237292"/>
            <a:ext cx="2567864" cy="980628"/>
          </a:xfrm>
          <a:prstGeom prst="roundRect">
            <a:avLst>
              <a:gd name="adj" fmla="val 7460"/>
            </a:avLst>
          </a:prstGeom>
          <a:solidFill>
            <a:schemeClr val="bg2"/>
          </a:solidFill>
          <a:ln/>
        </p:spPr>
      </p:sp>
      <p:sp>
        <p:nvSpPr>
          <p:cNvPr id="9" name="Text 6"/>
          <p:cNvSpPr txBox="1"/>
          <p:nvPr/>
        </p:nvSpPr>
        <p:spPr>
          <a:xfrm>
            <a:off x="731520" y="5347020"/>
            <a:ext cx="2202104" cy="274320"/>
          </a:xfrm>
          <a:prstGeom prst="rect">
            <a:avLst/>
          </a:prstGeom>
          <a:noFill/>
          <a:ln/>
        </p:spPr>
        <p:txBody>
          <a:bodyPr wrap="square" lIns="0" tIns="0" rIns="0" bIns="0" rtlCol="0" anchor="t"/>
          <a:lstStyle/>
          <a:p>
            <a:pPr marL="0" indent="0">
              <a:buNone/>
            </a:pPr>
            <a:r>
              <a:rPr lang="en-US" sz="1200" b="1" dirty="0">
                <a:solidFill>
                  <a:schemeClr val="tx2"/>
                </a:solidFill>
              </a:rPr>
              <a:t>Arms</a:t>
            </a:r>
            <a:endParaRPr lang="en-US" sz="1200" dirty="0"/>
          </a:p>
        </p:txBody>
      </p:sp>
      <p:sp>
        <p:nvSpPr>
          <p:cNvPr id="10" name="Text 7"/>
          <p:cNvSpPr txBox="1"/>
          <p:nvPr/>
        </p:nvSpPr>
        <p:spPr>
          <a:xfrm>
            <a:off x="731520" y="5648772"/>
            <a:ext cx="2202104" cy="523428"/>
          </a:xfrm>
          <a:prstGeom prst="rect">
            <a:avLst/>
          </a:prstGeom>
          <a:noFill/>
          <a:ln/>
        </p:spPr>
        <p:txBody>
          <a:bodyPr wrap="square" lIns="0" tIns="0" rIns="0" bIns="0" rtlCol="0" anchor="t"/>
          <a:lstStyle/>
          <a:p>
            <a:pPr marL="0" indent="0">
              <a:buNone/>
            </a:pPr>
            <a:r>
              <a:rPr lang="en-US" sz="1400" dirty="0">
                <a:solidFill>
                  <a:schemeClr val="tx1"/>
                </a:solidFill>
              </a:rPr>
              <a:t>SO101 master, Piper slave (6 joints)</a:t>
            </a:r>
            <a:endParaRPr lang="en-US" sz="1400" dirty="0"/>
          </a:p>
        </p:txBody>
      </p:sp>
      <p:sp>
        <p:nvSpPr>
          <p:cNvPr id="11" name="Control card"/>
          <p:cNvSpPr/>
          <p:nvPr/>
        </p:nvSpPr>
        <p:spPr>
          <a:xfrm>
            <a:off x="3390824" y="5237292"/>
            <a:ext cx="2567864" cy="980628"/>
          </a:xfrm>
          <a:prstGeom prst="roundRect">
            <a:avLst>
              <a:gd name="adj" fmla="val 7460"/>
            </a:avLst>
          </a:prstGeom>
          <a:solidFill>
            <a:schemeClr val="bg2"/>
          </a:solidFill>
          <a:ln/>
        </p:spPr>
      </p:sp>
      <p:sp>
        <p:nvSpPr>
          <p:cNvPr id="12" name="Text 9"/>
          <p:cNvSpPr txBox="1"/>
          <p:nvPr/>
        </p:nvSpPr>
        <p:spPr>
          <a:xfrm>
            <a:off x="3573704" y="5347020"/>
            <a:ext cx="2202104" cy="274320"/>
          </a:xfrm>
          <a:prstGeom prst="rect">
            <a:avLst/>
          </a:prstGeom>
          <a:noFill/>
          <a:ln/>
        </p:spPr>
        <p:txBody>
          <a:bodyPr wrap="square" lIns="0" tIns="0" rIns="0" bIns="0" rtlCol="0" anchor="t"/>
          <a:lstStyle/>
          <a:p>
            <a:pPr marL="0" indent="0">
              <a:buNone/>
            </a:pPr>
            <a:r>
              <a:rPr lang="en-US" sz="1200" b="1" dirty="0">
                <a:solidFill>
                  <a:schemeClr val="tx2"/>
                </a:solidFill>
              </a:rPr>
              <a:t>Control</a:t>
            </a:r>
            <a:endParaRPr lang="en-US" sz="1200" dirty="0"/>
          </a:p>
        </p:txBody>
      </p:sp>
      <p:sp>
        <p:nvSpPr>
          <p:cNvPr id="13" name="Text 10"/>
          <p:cNvSpPr txBox="1"/>
          <p:nvPr/>
        </p:nvSpPr>
        <p:spPr>
          <a:xfrm>
            <a:off x="3573704" y="5648772"/>
            <a:ext cx="2202104" cy="523428"/>
          </a:xfrm>
          <a:prstGeom prst="rect">
            <a:avLst/>
          </a:prstGeom>
          <a:noFill/>
          <a:ln/>
        </p:spPr>
        <p:txBody>
          <a:bodyPr wrap="square" lIns="0" tIns="0" rIns="0" bIns="0" rtlCol="0" anchor="t"/>
          <a:lstStyle/>
          <a:p>
            <a:pPr marL="0" indent="0">
              <a:buNone/>
            </a:pPr>
            <a:r>
              <a:rPr lang="en-US" sz="1400" dirty="0">
                <a:solidFill>
                  <a:schemeClr val="tx1"/>
                </a:solidFill>
              </a:rPr>
              <a:t>100 Hz, joint velocity ≤ 90°/s</a:t>
            </a:r>
            <a:endParaRPr lang="en-US" sz="1400" dirty="0"/>
          </a:p>
        </p:txBody>
      </p:sp>
      <p:sp>
        <p:nvSpPr>
          <p:cNvPr id="14" name="Parameters card"/>
          <p:cNvSpPr/>
          <p:nvPr/>
        </p:nvSpPr>
        <p:spPr>
          <a:xfrm>
            <a:off x="6233008" y="5237292"/>
            <a:ext cx="2567864" cy="980628"/>
          </a:xfrm>
          <a:prstGeom prst="roundRect">
            <a:avLst>
              <a:gd name="adj" fmla="val 7460"/>
            </a:avLst>
          </a:prstGeom>
          <a:solidFill>
            <a:schemeClr val="bg2"/>
          </a:solidFill>
          <a:ln/>
        </p:spPr>
      </p:sp>
      <p:sp>
        <p:nvSpPr>
          <p:cNvPr id="15" name="Text 12"/>
          <p:cNvSpPr txBox="1"/>
          <p:nvPr/>
        </p:nvSpPr>
        <p:spPr>
          <a:xfrm>
            <a:off x="6415888" y="5347020"/>
            <a:ext cx="2202104" cy="274320"/>
          </a:xfrm>
          <a:prstGeom prst="rect">
            <a:avLst/>
          </a:prstGeom>
          <a:noFill/>
          <a:ln/>
        </p:spPr>
        <p:txBody>
          <a:bodyPr wrap="square" lIns="0" tIns="0" rIns="0" bIns="0" rtlCol="0" anchor="t"/>
          <a:lstStyle/>
          <a:p>
            <a:pPr marL="0" indent="0">
              <a:buNone/>
            </a:pPr>
            <a:r>
              <a:rPr lang="en-US" sz="1200" b="1" dirty="0">
                <a:solidFill>
                  <a:schemeClr val="tx2"/>
                </a:solidFill>
              </a:rPr>
              <a:t>Parameters</a:t>
            </a:r>
            <a:endParaRPr lang="en-US" sz="1200" dirty="0"/>
          </a:p>
        </p:txBody>
      </p:sp>
      <p:sp>
        <p:nvSpPr>
          <p:cNvPr id="16" name="Text 13"/>
          <p:cNvSpPr txBox="1"/>
          <p:nvPr/>
        </p:nvSpPr>
        <p:spPr>
          <a:xfrm>
            <a:off x="6415888" y="5648772"/>
            <a:ext cx="2202104" cy="523428"/>
          </a:xfrm>
          <a:prstGeom prst="rect">
            <a:avLst/>
          </a:prstGeom>
          <a:noFill/>
          <a:ln/>
        </p:spPr>
        <p:txBody>
          <a:bodyPr wrap="square" lIns="0" tIns="0" rIns="0" bIns="0" rtlCol="0" anchor="t"/>
          <a:lstStyle/>
          <a:p>
            <a:pPr marL="0" indent="0">
              <a:buNone/>
            </a:pPr>
            <a:r>
              <a:rPr lang="en-US" sz="1400" dirty="0">
                <a:solidFill>
                  <a:schemeClr val="tx1"/>
                </a:solidFill>
              </a:rPr>
              <a:t>w</a:t>
            </a:r>
            <a:r>
              <a:rPr lang="en-US" sz="1400" baseline="-40000" dirty="0">
                <a:solidFill>
                  <a:schemeClr val="tx1"/>
                </a:solidFill>
              </a:rPr>
              <a:t>p</a:t>
            </a:r>
            <a:r>
              <a:rPr lang="en-US" sz="1400" dirty="0">
                <a:solidFill>
                  <a:schemeClr val="tx1"/>
                </a:solidFill>
              </a:rPr>
              <a:t> = 1, w</a:t>
            </a:r>
            <a:r>
              <a:rPr lang="en-US" sz="1400" baseline="-40000" dirty="0">
                <a:solidFill>
                  <a:schemeClr val="tx1"/>
                </a:solidFill>
              </a:rPr>
              <a:t>r</a:t>
            </a:r>
            <a:r>
              <a:rPr lang="en-US" sz="1400" dirty="0">
                <a:solidFill>
                  <a:schemeClr val="tx1"/>
                </a:solidFill>
              </a:rPr>
              <a:t> = 0.1, k</a:t>
            </a:r>
            <a:r>
              <a:rPr lang="en-US" sz="1400" baseline="-40000" dirty="0">
                <a:solidFill>
                  <a:schemeClr val="tx1"/>
                </a:solidFill>
              </a:rPr>
              <a:t>e</a:t>
            </a:r>
            <a:r>
              <a:rPr lang="en-US" sz="1400" dirty="0">
                <a:solidFill>
                  <a:schemeClr val="tx1"/>
                </a:solidFill>
              </a:rPr>
              <a:t> = 30, λ = 0.001, γ = 1/σ̄</a:t>
            </a:r>
            <a:r>
              <a:rPr lang="en-US" sz="1400" baseline="-40000" dirty="0">
                <a:solidFill>
                  <a:schemeClr val="tx1"/>
                </a:solidFill>
              </a:rPr>
              <a:t>k</a:t>
            </a:r>
            <a:endParaRPr lang="en-US" sz="1400" dirty="0"/>
          </a:p>
        </p:txBody>
      </p:sp>
      <p:sp>
        <p:nvSpPr>
          <p:cNvPr id="17" name="Trials card"/>
          <p:cNvSpPr/>
          <p:nvPr/>
        </p:nvSpPr>
        <p:spPr>
          <a:xfrm>
            <a:off x="9075191" y="5237292"/>
            <a:ext cx="2567864" cy="980628"/>
          </a:xfrm>
          <a:prstGeom prst="roundRect">
            <a:avLst>
              <a:gd name="adj" fmla="val 7460"/>
            </a:avLst>
          </a:prstGeom>
          <a:solidFill>
            <a:schemeClr val="bg2"/>
          </a:solidFill>
          <a:ln/>
        </p:spPr>
      </p:sp>
      <p:sp>
        <p:nvSpPr>
          <p:cNvPr id="18" name="Text 15"/>
          <p:cNvSpPr txBox="1"/>
          <p:nvPr/>
        </p:nvSpPr>
        <p:spPr>
          <a:xfrm>
            <a:off x="9258071" y="5347020"/>
            <a:ext cx="2202104" cy="274320"/>
          </a:xfrm>
          <a:prstGeom prst="rect">
            <a:avLst/>
          </a:prstGeom>
          <a:noFill/>
          <a:ln/>
        </p:spPr>
        <p:txBody>
          <a:bodyPr wrap="square" lIns="0" tIns="0" rIns="0" bIns="0" rtlCol="0" anchor="t"/>
          <a:lstStyle/>
          <a:p>
            <a:pPr marL="0" indent="0">
              <a:buNone/>
            </a:pPr>
            <a:r>
              <a:rPr lang="en-US" sz="1200" b="1" dirty="0">
                <a:solidFill>
                  <a:schemeClr val="tx2"/>
                </a:solidFill>
              </a:rPr>
              <a:t>Trials</a:t>
            </a:r>
            <a:endParaRPr lang="en-US" sz="1200" dirty="0"/>
          </a:p>
        </p:txBody>
      </p:sp>
      <p:sp>
        <p:nvSpPr>
          <p:cNvPr id="19" name="Text 16"/>
          <p:cNvSpPr txBox="1"/>
          <p:nvPr/>
        </p:nvSpPr>
        <p:spPr>
          <a:xfrm>
            <a:off x="9258071" y="5648772"/>
            <a:ext cx="2202104" cy="523428"/>
          </a:xfrm>
          <a:prstGeom prst="rect">
            <a:avLst/>
          </a:prstGeom>
          <a:noFill/>
          <a:ln/>
        </p:spPr>
        <p:txBody>
          <a:bodyPr wrap="square" lIns="0" tIns="0" rIns="0" bIns="0" rtlCol="0" anchor="t"/>
          <a:lstStyle/>
          <a:p>
            <a:pPr marL="0" indent="0">
              <a:buNone/>
            </a:pPr>
            <a:r>
              <a:rPr lang="en-US" sz="1400" dirty="0">
                <a:solidFill>
                  <a:schemeClr val="tx1"/>
                </a:solidFill>
              </a:rPr>
              <a:t>α = 1 (234.6 s) and α = 0.2 (290.8 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Application 1: Tracking Errors</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α = 0.2 lowers the mean and peak errors, while the median position error is almost unchanged.</a:t>
            </a:r>
            <a:endParaRPr lang="en-US" sz="1500" dirty="0"/>
          </a:p>
        </p:txBody>
      </p:sp>
      <p:pic>
        <p:nvPicPr>
          <p:cNvPr id="4" name="Box plots of tracking errors" descr="Box plots of tracking errors"/>
          <p:cNvPicPr>
            <a:picLocks noChangeAspect="1"/>
          </p:cNvPicPr>
          <p:nvPr/>
        </p:nvPicPr>
        <p:blipFill>
          <a:blip r:embed="rId3"/>
          <a:stretch>
            <a:fillRect/>
          </a:stretch>
        </p:blipFill>
        <p:spPr>
          <a:xfrm>
            <a:off x="548640" y="1600200"/>
            <a:ext cx="6035040" cy="3156828"/>
          </a:xfrm>
          <a:prstGeom prst="rect">
            <a:avLst/>
          </a:prstGeom>
        </p:spPr>
      </p:pic>
      <p:sp>
        <p:nvSpPr>
          <p:cNvPr id="5" name="Text 2"/>
          <p:cNvSpPr txBox="1"/>
          <p:nvPr/>
        </p:nvSpPr>
        <p:spPr>
          <a:xfrm>
            <a:off x="548640" y="4830180"/>
            <a:ext cx="6035040" cy="457200"/>
          </a:xfrm>
          <a:prstGeom prst="rect">
            <a:avLst/>
          </a:prstGeom>
          <a:noFill/>
          <a:ln/>
        </p:spPr>
        <p:txBody>
          <a:bodyPr wrap="square" lIns="0" tIns="0" rIns="0" bIns="0" rtlCol="0" anchor="t"/>
          <a:lstStyle/>
          <a:p>
            <a:pPr marL="0" indent="0" algn="ctr">
              <a:buNone/>
            </a:pPr>
            <a:r>
              <a:rPr lang="en-US" sz="1100" dirty="0">
                <a:solidFill>
                  <a:schemeClr val="tx2"/>
                </a:solidFill>
              </a:rPr>
              <a:t>Feedback tracking errors: boxes are quartiles, lines medians, whiskers 5th–95th percentiles, triangles means</a:t>
            </a:r>
            <a:endParaRPr lang="en-US" sz="1100" dirty="0"/>
          </a:p>
        </p:txBody>
      </p:sp>
      <p:sp>
        <p:nvSpPr>
          <p:cNvPr id="6" name="Text 3"/>
          <p:cNvSpPr txBox="1"/>
          <p:nvPr/>
        </p:nvSpPr>
        <p:spPr>
          <a:xfrm>
            <a:off x="6949440" y="1554480"/>
            <a:ext cx="4693615" cy="640080"/>
          </a:xfrm>
          <a:prstGeom prst="rect">
            <a:avLst/>
          </a:prstGeom>
          <a:noFill/>
          <a:ln/>
        </p:spPr>
        <p:txBody>
          <a:bodyPr wrap="square" lIns="0" tIns="0" rIns="0" bIns="0" rtlCol="0" anchor="b"/>
          <a:lstStyle/>
          <a:p>
            <a:pPr marL="0" indent="0">
              <a:buNone/>
            </a:pPr>
            <a:r>
              <a:rPr lang="en-US" sz="3200" b="1" dirty="0">
                <a:solidFill>
                  <a:schemeClr val="accent1"/>
                </a:solidFill>
              </a:rPr>
              <a:t>12.12 → 9.76 mm</a:t>
            </a:r>
            <a:endParaRPr lang="en-US" sz="3200" dirty="0"/>
          </a:p>
        </p:txBody>
      </p:sp>
      <p:sp>
        <p:nvSpPr>
          <p:cNvPr id="7" name="Text 4"/>
          <p:cNvSpPr txBox="1"/>
          <p:nvPr/>
        </p:nvSpPr>
        <p:spPr>
          <a:xfrm>
            <a:off x="6949440" y="2240280"/>
            <a:ext cx="4693615" cy="502920"/>
          </a:xfrm>
          <a:prstGeom prst="rect">
            <a:avLst/>
          </a:prstGeom>
          <a:noFill/>
          <a:ln/>
        </p:spPr>
        <p:txBody>
          <a:bodyPr wrap="square" lIns="0" tIns="0" rIns="0" bIns="0" rtlCol="0" anchor="t"/>
          <a:lstStyle/>
          <a:p>
            <a:pPr marL="0" indent="0">
              <a:buNone/>
            </a:pPr>
            <a:r>
              <a:rPr lang="en-US" sz="1300" dirty="0">
                <a:solidFill>
                  <a:schemeClr val="tx2"/>
                </a:solidFill>
              </a:rPr>
              <a:t>mean position error, α = 1 → α = 0.2</a:t>
            </a:r>
            <a:endParaRPr lang="en-US" sz="1300" dirty="0"/>
          </a:p>
        </p:txBody>
      </p:sp>
      <p:sp>
        <p:nvSpPr>
          <p:cNvPr id="8" name="Text 5"/>
          <p:cNvSpPr txBox="1"/>
          <p:nvPr/>
        </p:nvSpPr>
        <p:spPr>
          <a:xfrm>
            <a:off x="6949440" y="2788920"/>
            <a:ext cx="4693615" cy="640080"/>
          </a:xfrm>
          <a:prstGeom prst="rect">
            <a:avLst/>
          </a:prstGeom>
          <a:noFill/>
          <a:ln/>
        </p:spPr>
        <p:txBody>
          <a:bodyPr wrap="square" lIns="0" tIns="0" rIns="0" bIns="0" rtlCol="0" anchor="b"/>
          <a:lstStyle/>
          <a:p>
            <a:pPr marL="0" indent="0">
              <a:buNone/>
            </a:pPr>
            <a:r>
              <a:rPr lang="en-US" sz="3200" b="1" dirty="0">
                <a:solidFill>
                  <a:schemeClr val="accent1"/>
                </a:solidFill>
              </a:rPr>
              <a:t>9.20° → 6.01°</a:t>
            </a:r>
            <a:endParaRPr lang="en-US" sz="3200" dirty="0"/>
          </a:p>
        </p:txBody>
      </p:sp>
      <p:sp>
        <p:nvSpPr>
          <p:cNvPr id="9" name="Text 6"/>
          <p:cNvSpPr txBox="1"/>
          <p:nvPr/>
        </p:nvSpPr>
        <p:spPr>
          <a:xfrm>
            <a:off x="6949440" y="3474720"/>
            <a:ext cx="4693615" cy="502920"/>
          </a:xfrm>
          <a:prstGeom prst="rect">
            <a:avLst/>
          </a:prstGeom>
          <a:noFill/>
          <a:ln/>
        </p:spPr>
        <p:txBody>
          <a:bodyPr wrap="square" lIns="0" tIns="0" rIns="0" bIns="0" rtlCol="0" anchor="t"/>
          <a:lstStyle/>
          <a:p>
            <a:pPr marL="0" indent="0">
              <a:buNone/>
            </a:pPr>
            <a:r>
              <a:rPr lang="en-US" sz="1300" dirty="0">
                <a:solidFill>
                  <a:schemeClr val="tx2"/>
                </a:solidFill>
              </a:rPr>
              <a:t>mean orientation error, α = 1 → α = 0.2</a:t>
            </a:r>
            <a:endParaRPr lang="en-US" sz="1300" dirty="0"/>
          </a:p>
        </p:txBody>
      </p:sp>
      <p:sp>
        <p:nvSpPr>
          <p:cNvPr id="10" name="Text 7"/>
          <p:cNvSpPr txBox="1"/>
          <p:nvPr/>
        </p:nvSpPr>
        <p:spPr>
          <a:xfrm>
            <a:off x="6949440" y="4023360"/>
            <a:ext cx="4693615" cy="640080"/>
          </a:xfrm>
          <a:prstGeom prst="rect">
            <a:avLst/>
          </a:prstGeom>
          <a:noFill/>
          <a:ln/>
        </p:spPr>
        <p:txBody>
          <a:bodyPr wrap="square" lIns="0" tIns="0" rIns="0" bIns="0" rtlCol="0" anchor="b"/>
          <a:lstStyle/>
          <a:p>
            <a:pPr marL="0" indent="0">
              <a:buNone/>
            </a:pPr>
            <a:r>
              <a:rPr lang="en-US" sz="3200" b="1" dirty="0">
                <a:solidFill>
                  <a:schemeClr val="accent2"/>
                </a:solidFill>
              </a:rPr>
              <a:t>183.82 → 69.21 mm</a:t>
            </a:r>
            <a:endParaRPr lang="en-US" sz="3200" dirty="0"/>
          </a:p>
        </p:txBody>
      </p:sp>
      <p:sp>
        <p:nvSpPr>
          <p:cNvPr id="11" name="Text 8"/>
          <p:cNvSpPr txBox="1"/>
          <p:nvPr/>
        </p:nvSpPr>
        <p:spPr>
          <a:xfrm>
            <a:off x="6949440" y="4709160"/>
            <a:ext cx="4693615" cy="502920"/>
          </a:xfrm>
          <a:prstGeom prst="rect">
            <a:avLst/>
          </a:prstGeom>
          <a:noFill/>
          <a:ln/>
        </p:spPr>
        <p:txBody>
          <a:bodyPr wrap="square" lIns="0" tIns="0" rIns="0" bIns="0" rtlCol="0" anchor="t"/>
          <a:lstStyle/>
          <a:p>
            <a:pPr marL="0" indent="0">
              <a:buNone/>
            </a:pPr>
            <a:r>
              <a:rPr lang="en-US" sz="1300" dirty="0">
                <a:solidFill>
                  <a:schemeClr val="tx2"/>
                </a:solidFill>
              </a:rPr>
              <a:t>maximum position error, α = 1 → α = 0.2</a:t>
            </a:r>
            <a:endParaRPr lang="en-US" sz="1300" dirty="0"/>
          </a:p>
        </p:txBody>
      </p:sp>
      <p:sp>
        <p:nvSpPr>
          <p:cNvPr id="12" name="takeaway card"/>
          <p:cNvSpPr/>
          <p:nvPr/>
        </p:nvSpPr>
        <p:spPr>
          <a:xfrm>
            <a:off x="548640" y="5257800"/>
            <a:ext cx="11094415" cy="868680"/>
          </a:xfrm>
          <a:prstGeom prst="roundRect">
            <a:avLst>
              <a:gd name="adj" fmla="val 8421"/>
            </a:avLst>
          </a:prstGeom>
          <a:solidFill>
            <a:schemeClr val="bg2"/>
          </a:solidFill>
          <a:ln/>
        </p:spPr>
      </p:sp>
      <p:sp>
        <p:nvSpPr>
          <p:cNvPr id="13" name="Text 10"/>
          <p:cNvSpPr txBox="1"/>
          <p:nvPr/>
        </p:nvSpPr>
        <p:spPr>
          <a:xfrm>
            <a:off x="822960" y="5257800"/>
            <a:ext cx="10545775" cy="868680"/>
          </a:xfrm>
          <a:prstGeom prst="rect">
            <a:avLst/>
          </a:prstGeom>
          <a:noFill/>
          <a:ln/>
        </p:spPr>
        <p:txBody>
          <a:bodyPr wrap="square" lIns="0" tIns="0" rIns="0" bIns="0" rtlCol="0" anchor="ctr"/>
          <a:lstStyle/>
          <a:p>
            <a:pPr marL="0" indent="0">
              <a:buNone/>
            </a:pPr>
            <a:r>
              <a:rPr lang="en-US" sz="1400" b="1" dirty="0">
                <a:solidFill>
                  <a:schemeClr val="accent1"/>
                </a:solidFill>
              </a:rPr>
              <a:t>Where the large errors come from (α = 1): </a:t>
            </a:r>
            <a:r>
              <a:rPr lang="en-US" sz="1400" dirty="0">
                <a:solidFill>
                  <a:schemeClr val="tx1"/>
                </a:solidFill>
              </a:rPr>
              <a:t>a wrist singularity from 129 s to 141 s, and the last 5 s, when the desired pose leaves the reachable region.</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Application 1: Effect of Joint Limits</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When joint 5 sits at its limit, the orientation yields while the position is still tracked.</a:t>
            </a:r>
            <a:endParaRPr lang="en-US" sz="1500" dirty="0"/>
          </a:p>
        </p:txBody>
      </p:sp>
      <p:pic>
        <p:nvPicPr>
          <p:cNvPr id="4" name="Orientation tracking, alpha 1" descr="Orientation tracking, alpha 1"/>
          <p:cNvPicPr>
            <a:picLocks noChangeAspect="1"/>
          </p:cNvPicPr>
          <p:nvPr/>
        </p:nvPicPr>
        <p:blipFill>
          <a:blip r:embed="rId3"/>
          <a:stretch>
            <a:fillRect/>
          </a:stretch>
        </p:blipFill>
        <p:spPr>
          <a:xfrm>
            <a:off x="548640" y="1554480"/>
            <a:ext cx="5120640" cy="3636397"/>
          </a:xfrm>
          <a:prstGeom prst="rect">
            <a:avLst/>
          </a:prstGeom>
        </p:spPr>
      </p:pic>
      <p:sp>
        <p:nvSpPr>
          <p:cNvPr id="5" name="Text 2"/>
          <p:cNvSpPr txBox="1"/>
          <p:nvPr/>
        </p:nvSpPr>
        <p:spPr>
          <a:xfrm>
            <a:off x="548640" y="5236597"/>
            <a:ext cx="5120640" cy="457200"/>
          </a:xfrm>
          <a:prstGeom prst="rect">
            <a:avLst/>
          </a:prstGeom>
          <a:noFill/>
          <a:ln/>
        </p:spPr>
        <p:txBody>
          <a:bodyPr wrap="square" lIns="0" tIns="0" rIns="0" bIns="0" rtlCol="0" anchor="t"/>
          <a:lstStyle/>
          <a:p>
            <a:pPr marL="0" indent="0" algn="ctr">
              <a:buNone/>
            </a:pPr>
            <a:r>
              <a:rPr lang="en-US" sz="1100" dirty="0">
                <a:solidFill>
                  <a:schemeClr val="tx2"/>
                </a:solidFill>
              </a:rPr>
              <a:t>Orientation tracking, α = 1: the error mainly occurs in φ</a:t>
            </a:r>
            <a:r>
              <a:rPr lang="en-US" sz="1100" baseline="-40000" dirty="0">
                <a:solidFill>
                  <a:schemeClr val="tx2"/>
                </a:solidFill>
              </a:rPr>
              <a:t>y</a:t>
            </a:r>
            <a:r>
              <a:rPr lang="en-US" sz="1100" dirty="0">
                <a:solidFill>
                  <a:schemeClr val="tx2"/>
                </a:solidFill>
              </a:rPr>
              <a:t> (65–125 s)</a:t>
            </a:r>
            <a:endParaRPr lang="en-US" sz="1100" dirty="0"/>
          </a:p>
        </p:txBody>
      </p:sp>
      <p:graphicFrame>
        <p:nvGraphicFramePr>
          <p:cNvPr id="14" name="limit proximity table"/>
          <p:cNvGraphicFramePr>
            <a:graphicFrameLocks noGrp="1"/>
          </p:cNvGraphicFramePr>
          <p:nvPr>
            <p:extLst>
              <p:ext uri="{D42A27DB-BD31-4B8C-83A1-F6EECF244321}">
                <p14:modId xmlns:p14="http://schemas.microsoft.com/office/powerpoint/2010/main" val="1579011935"/>
              </p:ext>
            </p:extLst>
          </p:nvPr>
        </p:nvGraphicFramePr>
        <p:xfrm>
          <a:off x="6035040" y="1600200"/>
          <a:ext cx="5608015" cy="914400"/>
        </p:xfrm>
        <a:graphic>
          <a:graphicData uri="http://schemas.openxmlformats.org/drawingml/2006/table">
            <a:tbl>
              <a:tblPr/>
              <a:tblGrid>
                <a:gridCol w="16916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tblGrid>
              <a:tr h="384048">
                <a:tc>
                  <a:txBody>
                    <a:bodyPr/>
                    <a:lstStyle/>
                    <a:p>
                      <a:pPr marL="0" indent="0" algn="ctr">
                        <a:buNone/>
                      </a:pPr>
                      <a:r>
                        <a:rPr lang="en-US" sz="1300" b="1" dirty="0">
                          <a:solidFill>
                            <a:schemeClr val="bg1"/>
                          </a:solidFill>
                        </a:rPr>
                        <a:t>Mode</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Group</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Samples</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Pos. (mm)</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Ori. (°)</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chemeClr val="tx1"/>
                          </a:solidFill>
                        </a:rPr>
                        <a:t>Master, α = 1</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buNone/>
                      </a:pPr>
                      <a:r>
                        <a:rPr lang="en-US" sz="1300" dirty="0">
                          <a:solidFill>
                            <a:schemeClr val="tx1"/>
                          </a:solidFill>
                        </a:rPr>
                        <a:t>Away</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8260</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17.70</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12.45</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buNone/>
                      </a:pPr>
                      <a:r>
                        <a:rPr lang="en-US" sz="1300" dirty="0">
                          <a:solidFill>
                            <a:schemeClr val="tx1"/>
                          </a:solidFill>
                        </a:rPr>
                        <a:t>Near</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14095</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8.86</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7.29</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rPr>
                        <a:t>Master, α = 0.2</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buNone/>
                      </a:pPr>
                      <a:r>
                        <a:rPr lang="en-US" sz="1300" dirty="0">
                          <a:solidFill>
                            <a:schemeClr val="tx1"/>
                          </a:solidFill>
                        </a:rPr>
                        <a:t>Away</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19197</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9.95</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5.61</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buNone/>
                      </a:pPr>
                      <a:r>
                        <a:rPr lang="en-US" sz="1300" dirty="0">
                          <a:solidFill>
                            <a:schemeClr val="tx1"/>
                          </a:solidFill>
                        </a:rPr>
                        <a:t>Near</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8515</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9.34</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6.91</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txBox="1"/>
          <p:nvPr/>
        </p:nvSpPr>
        <p:spPr>
          <a:xfrm>
            <a:off x="6035040" y="3611880"/>
            <a:ext cx="5608015" cy="457200"/>
          </a:xfrm>
          <a:prstGeom prst="rect">
            <a:avLst/>
          </a:prstGeom>
          <a:noFill/>
          <a:ln/>
        </p:spPr>
        <p:txBody>
          <a:bodyPr wrap="square" lIns="0" tIns="0" rIns="0" bIns="0" rtlCol="0" anchor="t"/>
          <a:lstStyle/>
          <a:p>
            <a:pPr marL="0" indent="0" algn="ctr">
              <a:buNone/>
            </a:pPr>
            <a:r>
              <a:rPr lang="en-US" sz="1100" dirty="0">
                <a:solidFill>
                  <a:schemeClr val="tx2"/>
                </a:solidFill>
              </a:rPr>
              <a:t>Mean errors grouped by limit proximity (near: a commanded angle within 0.5° of its limit)</a:t>
            </a:r>
            <a:endParaRPr lang="en-US" sz="1100" dirty="0"/>
          </a:p>
        </p:txBody>
      </p:sp>
      <p:sp>
        <p:nvSpPr>
          <p:cNvPr id="8" name="Text 4"/>
          <p:cNvSpPr txBox="1"/>
          <p:nvPr/>
        </p:nvSpPr>
        <p:spPr>
          <a:xfrm>
            <a:off x="6035040" y="4069080"/>
            <a:ext cx="5608015" cy="640080"/>
          </a:xfrm>
          <a:prstGeom prst="rect">
            <a:avLst/>
          </a:prstGeom>
          <a:noFill/>
          <a:ln/>
        </p:spPr>
        <p:txBody>
          <a:bodyPr wrap="square" lIns="0" tIns="0" rIns="0" bIns="0" rtlCol="0" anchor="b"/>
          <a:lstStyle/>
          <a:p>
            <a:pPr marL="0" indent="0">
              <a:buNone/>
            </a:pPr>
            <a:r>
              <a:rPr lang="en-US" sz="3200" b="1" dirty="0">
                <a:solidFill>
                  <a:schemeClr val="accent2"/>
                </a:solidFill>
              </a:rPr>
              <a:t>6.06° vs 3.41°</a:t>
            </a:r>
            <a:endParaRPr lang="en-US" sz="3200" dirty="0"/>
          </a:p>
        </p:txBody>
      </p:sp>
      <p:sp>
        <p:nvSpPr>
          <p:cNvPr id="9" name="Text 5"/>
          <p:cNvSpPr txBox="1"/>
          <p:nvPr/>
        </p:nvSpPr>
        <p:spPr>
          <a:xfrm>
            <a:off x="6035040" y="4754880"/>
            <a:ext cx="5608015" cy="502920"/>
          </a:xfrm>
          <a:prstGeom prst="rect">
            <a:avLst/>
          </a:prstGeom>
          <a:noFill/>
          <a:ln/>
        </p:spPr>
        <p:txBody>
          <a:bodyPr wrap="square" lIns="0" tIns="0" rIns="0" bIns="0" rtlCol="0" anchor="t"/>
          <a:lstStyle/>
          <a:p>
            <a:pPr marL="0" indent="0">
              <a:buNone/>
            </a:pPr>
            <a:r>
              <a:rPr lang="en-US" sz="1300" dirty="0">
                <a:solidFill>
                  <a:schemeClr val="tx2"/>
                </a:solidFill>
              </a:rPr>
              <a:t>median orientation error with joint 5 at its upper limit vs otherwise (α = 1)</a:t>
            </a:r>
            <a:endParaRPr lang="en-US" sz="1300" dirty="0"/>
          </a:p>
        </p:txBody>
      </p:sp>
      <p:sp>
        <p:nvSpPr>
          <p:cNvPr id="10" name="Text 6"/>
          <p:cNvSpPr txBox="1"/>
          <p:nvPr/>
        </p:nvSpPr>
        <p:spPr>
          <a:xfrm>
            <a:off x="6035040" y="5486400"/>
            <a:ext cx="5608015" cy="548640"/>
          </a:xfrm>
          <a:prstGeom prst="rect">
            <a:avLst/>
          </a:prstGeom>
          <a:noFill/>
          <a:ln/>
        </p:spPr>
        <p:txBody>
          <a:bodyPr wrap="square" lIns="0" tIns="0" rIns="0" bIns="0" rtlCol="0" anchor="t"/>
          <a:lstStyle/>
          <a:p>
            <a:pPr marL="0" indent="0">
              <a:buNone/>
            </a:pPr>
            <a:r>
              <a:rPr lang="en-US" sz="1300" dirty="0">
                <a:solidFill>
                  <a:schemeClr val="tx1"/>
                </a:solidFill>
              </a:rPr>
              <a:t>Orientation weight w</a:t>
            </a:r>
            <a:r>
              <a:rPr lang="en-US" sz="1300" baseline="-40000" dirty="0">
                <a:solidFill>
                  <a:schemeClr val="tx1"/>
                </a:solidFill>
              </a:rPr>
              <a:t>r</a:t>
            </a:r>
            <a:r>
              <a:rPr lang="en-US" sz="1300" dirty="0">
                <a:solidFill>
                  <a:schemeClr val="tx1"/>
                </a:solidFill>
              </a:rPr>
              <a:t> = 0.1 &lt; position weight w</a:t>
            </a:r>
            <a:r>
              <a:rPr lang="en-US" sz="1300" baseline="-40000" dirty="0">
                <a:solidFill>
                  <a:schemeClr val="tx1"/>
                </a:solidFill>
              </a:rPr>
              <a:t>p</a:t>
            </a:r>
            <a:r>
              <a:rPr lang="en-US" sz="1300" dirty="0">
                <a:solidFill>
                  <a:schemeClr val="tx1"/>
                </a:solidFill>
              </a:rPr>
              <a:t> = 1, so the position is kept when both cannot be met.</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Application 1: Coverage and Computation Time</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The tool covers almost the whole modeled hair region, and one step takes well under the sampling interval.</a:t>
            </a:r>
            <a:endParaRPr lang="en-US" sz="1500" dirty="0"/>
          </a:p>
        </p:txBody>
      </p:sp>
      <p:pic>
        <p:nvPicPr>
          <p:cNvPr id="4" name="Coverage views" descr="Coverage views"/>
          <p:cNvPicPr>
            <a:picLocks noChangeAspect="1"/>
          </p:cNvPicPr>
          <p:nvPr/>
        </p:nvPicPr>
        <p:blipFill>
          <a:blip r:embed="rId3"/>
          <a:stretch>
            <a:fillRect/>
          </a:stretch>
        </p:blipFill>
        <p:spPr>
          <a:xfrm>
            <a:off x="548640" y="1554480"/>
            <a:ext cx="6858000" cy="2155098"/>
          </a:xfrm>
          <a:prstGeom prst="rect">
            <a:avLst/>
          </a:prstGeom>
        </p:spPr>
      </p:pic>
      <p:sp>
        <p:nvSpPr>
          <p:cNvPr id="5" name="Text 2"/>
          <p:cNvSpPr txBox="1"/>
          <p:nvPr/>
        </p:nvSpPr>
        <p:spPr>
          <a:xfrm>
            <a:off x="548640" y="3755298"/>
            <a:ext cx="6858000" cy="457200"/>
          </a:xfrm>
          <a:prstGeom prst="rect">
            <a:avLst/>
          </a:prstGeom>
          <a:noFill/>
          <a:ln/>
        </p:spPr>
        <p:txBody>
          <a:bodyPr wrap="square" lIns="0" tIns="0" rIns="0" bIns="0" rtlCol="0" anchor="t"/>
          <a:lstStyle/>
          <a:p>
            <a:pPr marL="0" indent="0" algn="ctr">
              <a:buNone/>
            </a:pPr>
            <a:r>
              <a:rPr lang="en-US" sz="1100" dirty="0">
                <a:solidFill>
                  <a:schemeClr val="tx2"/>
                </a:solidFill>
              </a:rPr>
              <a:t>Tool-tip path projected onto the head from four views (green: covered, red: uncovered), α = 1</a:t>
            </a:r>
            <a:endParaRPr lang="en-US" sz="1100" dirty="0"/>
          </a:p>
        </p:txBody>
      </p:sp>
      <p:pic>
        <p:nvPicPr>
          <p:cNvPr id="6" name="Cumulative coverage" descr="Cumulative coverage"/>
          <p:cNvPicPr>
            <a:picLocks noChangeAspect="1"/>
          </p:cNvPicPr>
          <p:nvPr/>
        </p:nvPicPr>
        <p:blipFill>
          <a:blip r:embed="rId4"/>
          <a:stretch>
            <a:fillRect/>
          </a:stretch>
        </p:blipFill>
        <p:spPr>
          <a:xfrm>
            <a:off x="7680960" y="1554480"/>
            <a:ext cx="3962095" cy="2152469"/>
          </a:xfrm>
          <a:prstGeom prst="rect">
            <a:avLst/>
          </a:prstGeom>
        </p:spPr>
      </p:pic>
      <p:sp>
        <p:nvSpPr>
          <p:cNvPr id="7" name="Text 3"/>
          <p:cNvSpPr txBox="1"/>
          <p:nvPr/>
        </p:nvSpPr>
        <p:spPr>
          <a:xfrm>
            <a:off x="7680960" y="3752669"/>
            <a:ext cx="3962095" cy="457200"/>
          </a:xfrm>
          <a:prstGeom prst="rect">
            <a:avLst/>
          </a:prstGeom>
          <a:noFill/>
          <a:ln/>
        </p:spPr>
        <p:txBody>
          <a:bodyPr wrap="square" lIns="0" tIns="0" rIns="0" bIns="0" rtlCol="0" anchor="t"/>
          <a:lstStyle/>
          <a:p>
            <a:pPr marL="0" indent="0" algn="ctr">
              <a:buNone/>
            </a:pPr>
            <a:r>
              <a:rPr lang="en-US" sz="1100" dirty="0">
                <a:solidFill>
                  <a:schemeClr val="tx2"/>
                </a:solidFill>
              </a:rPr>
              <a:t>Cumulative coverage, α = 1</a:t>
            </a:r>
            <a:endParaRPr lang="en-US" sz="1100" dirty="0"/>
          </a:p>
        </p:txBody>
      </p:sp>
      <p:sp>
        <p:nvSpPr>
          <p:cNvPr id="8" name="Text 4"/>
          <p:cNvSpPr txBox="1"/>
          <p:nvPr/>
        </p:nvSpPr>
        <p:spPr>
          <a:xfrm>
            <a:off x="548640" y="4572000"/>
            <a:ext cx="3454298" cy="640080"/>
          </a:xfrm>
          <a:prstGeom prst="rect">
            <a:avLst/>
          </a:prstGeom>
          <a:noFill/>
          <a:ln/>
        </p:spPr>
        <p:txBody>
          <a:bodyPr wrap="square" lIns="0" tIns="0" rIns="0" bIns="0" rtlCol="0" anchor="b"/>
          <a:lstStyle/>
          <a:p>
            <a:pPr marL="0" indent="0">
              <a:buNone/>
            </a:pPr>
            <a:r>
              <a:rPr lang="en-US" sz="4000" b="1" dirty="0">
                <a:solidFill>
                  <a:schemeClr val="accent1"/>
                </a:solidFill>
              </a:rPr>
              <a:t>99.7%</a:t>
            </a:r>
            <a:endParaRPr lang="en-US" sz="4000" dirty="0"/>
          </a:p>
        </p:txBody>
      </p:sp>
      <p:sp>
        <p:nvSpPr>
          <p:cNvPr id="9" name="Text 5"/>
          <p:cNvSpPr txBox="1"/>
          <p:nvPr/>
        </p:nvSpPr>
        <p:spPr>
          <a:xfrm>
            <a:off x="548640" y="5257800"/>
            <a:ext cx="3454298" cy="502920"/>
          </a:xfrm>
          <a:prstGeom prst="rect">
            <a:avLst/>
          </a:prstGeom>
          <a:noFill/>
          <a:ln/>
        </p:spPr>
        <p:txBody>
          <a:bodyPr wrap="square" lIns="0" tIns="0" rIns="0" bIns="0" rtlCol="0" anchor="t"/>
          <a:lstStyle/>
          <a:p>
            <a:pPr marL="0" indent="0">
              <a:buNone/>
            </a:pPr>
            <a:r>
              <a:rPr lang="en-US" sz="1300" dirty="0">
                <a:solidFill>
                  <a:schemeClr val="tx2"/>
                </a:solidFill>
              </a:rPr>
              <a:t>final geometric coverage, α = 1 (99.5% for α = 0.2)</a:t>
            </a:r>
            <a:endParaRPr lang="en-US" sz="1300" dirty="0"/>
          </a:p>
        </p:txBody>
      </p:sp>
      <p:sp>
        <p:nvSpPr>
          <p:cNvPr id="10" name="Text 6"/>
          <p:cNvSpPr txBox="1"/>
          <p:nvPr/>
        </p:nvSpPr>
        <p:spPr>
          <a:xfrm>
            <a:off x="4368698" y="4572000"/>
            <a:ext cx="3454298" cy="640080"/>
          </a:xfrm>
          <a:prstGeom prst="rect">
            <a:avLst/>
          </a:prstGeom>
          <a:noFill/>
          <a:ln/>
        </p:spPr>
        <p:txBody>
          <a:bodyPr wrap="square" lIns="0" tIns="0" rIns="0" bIns="0" rtlCol="0" anchor="b"/>
          <a:lstStyle/>
          <a:p>
            <a:pPr marL="0" indent="0">
              <a:buNone/>
            </a:pPr>
            <a:r>
              <a:rPr lang="en-US" sz="4000" b="1" dirty="0">
                <a:solidFill>
                  <a:schemeClr val="accent1"/>
                </a:solidFill>
              </a:rPr>
              <a:t>0.72 ms</a:t>
            </a:r>
            <a:endParaRPr lang="en-US" sz="4000" dirty="0"/>
          </a:p>
        </p:txBody>
      </p:sp>
      <p:sp>
        <p:nvSpPr>
          <p:cNvPr id="11" name="Text 7"/>
          <p:cNvSpPr txBox="1"/>
          <p:nvPr/>
        </p:nvSpPr>
        <p:spPr>
          <a:xfrm>
            <a:off x="4368698" y="5257800"/>
            <a:ext cx="3454298" cy="502920"/>
          </a:xfrm>
          <a:prstGeom prst="rect">
            <a:avLst/>
          </a:prstGeom>
          <a:noFill/>
          <a:ln/>
        </p:spPr>
        <p:txBody>
          <a:bodyPr wrap="square" lIns="0" tIns="0" rIns="0" bIns="0" rtlCol="0" anchor="t"/>
          <a:lstStyle/>
          <a:p>
            <a:pPr marL="0" indent="0">
              <a:buNone/>
            </a:pPr>
            <a:r>
              <a:rPr lang="en-US" sz="1300" dirty="0">
                <a:solidFill>
                  <a:schemeClr val="tx2"/>
                </a:solidFill>
              </a:rPr>
              <a:t>mean computation time per instant, both trials</a:t>
            </a:r>
            <a:endParaRPr lang="en-US" sz="1300" dirty="0"/>
          </a:p>
        </p:txBody>
      </p:sp>
      <p:sp>
        <p:nvSpPr>
          <p:cNvPr id="12" name="Text 8"/>
          <p:cNvSpPr txBox="1"/>
          <p:nvPr/>
        </p:nvSpPr>
        <p:spPr>
          <a:xfrm>
            <a:off x="8188757" y="4572000"/>
            <a:ext cx="3454298" cy="640080"/>
          </a:xfrm>
          <a:prstGeom prst="rect">
            <a:avLst/>
          </a:prstGeom>
          <a:noFill/>
          <a:ln/>
        </p:spPr>
        <p:txBody>
          <a:bodyPr wrap="square" lIns="0" tIns="0" rIns="0" bIns="0" rtlCol="0" anchor="b"/>
          <a:lstStyle/>
          <a:p>
            <a:pPr marL="0" indent="0">
              <a:buNone/>
            </a:pPr>
            <a:r>
              <a:rPr lang="en-US" sz="4000" b="1" dirty="0">
                <a:solidFill>
                  <a:schemeClr val="accent2"/>
                </a:solidFill>
              </a:rPr>
              <a:t>10 ms</a:t>
            </a:r>
            <a:endParaRPr lang="en-US" sz="4000" dirty="0"/>
          </a:p>
        </p:txBody>
      </p:sp>
      <p:sp>
        <p:nvSpPr>
          <p:cNvPr id="13" name="Text 9"/>
          <p:cNvSpPr txBox="1"/>
          <p:nvPr/>
        </p:nvSpPr>
        <p:spPr>
          <a:xfrm>
            <a:off x="8188757" y="5257800"/>
            <a:ext cx="3454298" cy="502920"/>
          </a:xfrm>
          <a:prstGeom prst="rect">
            <a:avLst/>
          </a:prstGeom>
          <a:noFill/>
          <a:ln/>
        </p:spPr>
        <p:txBody>
          <a:bodyPr wrap="square" lIns="0" tIns="0" rIns="0" bIns="0" rtlCol="0" anchor="t"/>
          <a:lstStyle/>
          <a:p>
            <a:pPr marL="0" indent="0">
              <a:buNone/>
            </a:pPr>
            <a:r>
              <a:rPr lang="en-US" sz="1300" dirty="0">
                <a:solidFill>
                  <a:schemeClr val="tx2"/>
                </a:solidFill>
              </a:rPr>
              <a:t>sampling interval at 100 Hz</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Application 2: Smartphone-Based Teleoperation via Tag</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The smartphone camera observes a board with four AprilTags; the estimated pose is the desired pose of the slave.</a:t>
            </a:r>
            <a:endParaRPr lang="en-US" sz="1500" dirty="0"/>
          </a:p>
        </p:txBody>
      </p:sp>
      <p:pic>
        <p:nvPicPr>
          <p:cNvPr id="4" name="Schematic of the smartphone mode" descr="Schematic of the smartphone mode"/>
          <p:cNvPicPr>
            <a:picLocks noChangeAspect="1"/>
          </p:cNvPicPr>
          <p:nvPr/>
        </p:nvPicPr>
        <p:blipFill>
          <a:blip r:embed="rId3"/>
          <a:stretch>
            <a:fillRect/>
          </a:stretch>
        </p:blipFill>
        <p:spPr>
          <a:xfrm>
            <a:off x="548640" y="1600200"/>
            <a:ext cx="8229600" cy="2995574"/>
          </a:xfrm>
          <a:prstGeom prst="rect">
            <a:avLst/>
          </a:prstGeom>
        </p:spPr>
      </p:pic>
      <p:sp>
        <p:nvSpPr>
          <p:cNvPr id="5" name="Text 2"/>
          <p:cNvSpPr txBox="1"/>
          <p:nvPr/>
        </p:nvSpPr>
        <p:spPr>
          <a:xfrm>
            <a:off x="548640" y="4641494"/>
            <a:ext cx="8229600" cy="457200"/>
          </a:xfrm>
          <a:prstGeom prst="rect">
            <a:avLst/>
          </a:prstGeom>
          <a:noFill/>
          <a:ln/>
        </p:spPr>
        <p:txBody>
          <a:bodyPr wrap="square" lIns="0" tIns="0" rIns="0" bIns="0" rtlCol="0" anchor="t"/>
          <a:lstStyle/>
          <a:p>
            <a:pPr marL="0" indent="0" algn="ctr">
              <a:buNone/>
            </a:pPr>
            <a:r>
              <a:rPr lang="en-US" sz="1100" dirty="0">
                <a:solidFill>
                  <a:schemeClr val="tx2"/>
                </a:solidFill>
              </a:rPr>
              <a:t>Schematic of the smartphone mode (paper figure)</a:t>
            </a:r>
            <a:endParaRPr lang="en-US" sz="1100" dirty="0"/>
          </a:p>
        </p:txBody>
      </p:sp>
      <p:sp>
        <p:nvSpPr>
          <p:cNvPr id="6" name="smartphone setup card"/>
          <p:cNvSpPr/>
          <p:nvPr/>
        </p:nvSpPr>
        <p:spPr>
          <a:xfrm>
            <a:off x="548640" y="5144414"/>
            <a:ext cx="8229600" cy="685800"/>
          </a:xfrm>
          <a:prstGeom prst="roundRect">
            <a:avLst>
              <a:gd name="adj" fmla="val 10667"/>
            </a:avLst>
          </a:prstGeom>
          <a:solidFill>
            <a:schemeClr val="bg2"/>
          </a:solidFill>
          <a:ln/>
        </p:spPr>
      </p:sp>
      <p:sp>
        <p:nvSpPr>
          <p:cNvPr id="7" name="Text 4"/>
          <p:cNvSpPr txBox="1"/>
          <p:nvPr/>
        </p:nvSpPr>
        <p:spPr>
          <a:xfrm>
            <a:off x="822960" y="5144414"/>
            <a:ext cx="7680960" cy="685800"/>
          </a:xfrm>
          <a:prstGeom prst="rect">
            <a:avLst/>
          </a:prstGeom>
          <a:noFill/>
          <a:ln/>
        </p:spPr>
        <p:txBody>
          <a:bodyPr wrap="square" lIns="0" tIns="0" rIns="0" bIns="0" rtlCol="0" anchor="ctr"/>
          <a:lstStyle/>
          <a:p>
            <a:pPr marL="0" indent="0">
              <a:buNone/>
            </a:pPr>
            <a:r>
              <a:rPr lang="en-US" sz="1400" b="1" dirty="0">
                <a:solidFill>
                  <a:schemeClr val="tx1"/>
                </a:solidFill>
              </a:rPr>
              <a:t>829.2 s trial</a:t>
            </a:r>
            <a:r>
              <a:rPr lang="en-US" sz="1400" dirty="0">
                <a:solidFill>
                  <a:schemeClr val="tx1"/>
                </a:solidFill>
              </a:rPr>
              <a:t>   ·   median sampling interval 24 ms   ·   iterated to convergence at each instant</a:t>
            </a:r>
            <a:endParaRPr lang="en-US" sz="1400" dirty="0"/>
          </a:p>
        </p:txBody>
      </p:sp>
      <p:pic>
        <p:nvPicPr>
          <p:cNvPr id="8" name="Looping clip phone" descr="Looping clip phone"/>
          <p:cNvPicPr>
            <a:picLocks noChangeAspect="1"/>
          </p:cNvPicPr>
          <p:nvPr/>
        </p:nvPicPr>
        <p:blipFill>
          <a:blip r:embed="rId4"/>
          <a:stretch>
            <a:fillRect/>
          </a:stretch>
        </p:blipFill>
        <p:spPr>
          <a:xfrm>
            <a:off x="9006688" y="1600200"/>
            <a:ext cx="2682240" cy="4023360"/>
          </a:xfrm>
          <a:prstGeom prst="rect">
            <a:avLst/>
          </a:prstGeom>
        </p:spPr>
      </p:pic>
      <p:sp>
        <p:nvSpPr>
          <p:cNvPr id="9" name="speed tag"/>
          <p:cNvSpPr/>
          <p:nvPr/>
        </p:nvSpPr>
        <p:spPr>
          <a:xfrm>
            <a:off x="11186008" y="5330952"/>
            <a:ext cx="502920" cy="292608"/>
          </a:xfrm>
          <a:prstGeom prst="rect">
            <a:avLst/>
          </a:prstGeom>
          <a:solidFill>
            <a:srgbClr val="000000">
              <a:alpha val="60000"/>
            </a:srgbClr>
          </a:solidFill>
          <a:ln/>
        </p:spPr>
      </p:sp>
      <p:sp>
        <p:nvSpPr>
          <p:cNvPr id="10" name="Text 6"/>
          <p:cNvSpPr txBox="1"/>
          <p:nvPr/>
        </p:nvSpPr>
        <p:spPr>
          <a:xfrm>
            <a:off x="11186008" y="5330952"/>
            <a:ext cx="502920" cy="292608"/>
          </a:xfrm>
          <a:prstGeom prst="rect">
            <a:avLst/>
          </a:prstGeom>
          <a:noFill/>
          <a:ln/>
        </p:spPr>
        <p:txBody>
          <a:bodyPr wrap="square" lIns="0" tIns="0" rIns="0" bIns="0" rtlCol="0" anchor="ctr"/>
          <a:lstStyle/>
          <a:p>
            <a:pPr marL="0" indent="0" algn="ctr">
              <a:buNone/>
            </a:pPr>
            <a:r>
              <a:rPr lang="en-US" sz="1200" b="1" dirty="0">
                <a:solidFill>
                  <a:srgbClr val="FFFFFF"/>
                </a:solidFill>
              </a:rPr>
              <a:t>2x</a:t>
            </a:r>
            <a:endParaRPr lang="en-US" sz="1200" dirty="0"/>
          </a:p>
        </p:txBody>
      </p:sp>
      <p:sp>
        <p:nvSpPr>
          <p:cNvPr id="11" name="Text 7"/>
          <p:cNvSpPr txBox="1"/>
          <p:nvPr/>
        </p:nvSpPr>
        <p:spPr>
          <a:xfrm>
            <a:off x="9052560" y="5678424"/>
            <a:ext cx="2590495" cy="457200"/>
          </a:xfrm>
          <a:prstGeom prst="rect">
            <a:avLst/>
          </a:prstGeom>
          <a:noFill/>
          <a:ln/>
        </p:spPr>
        <p:txBody>
          <a:bodyPr wrap="square" lIns="0" tIns="0" rIns="0" bIns="0" rtlCol="0" anchor="t"/>
          <a:lstStyle/>
          <a:p>
            <a:pPr marL="0" indent="0" algn="ctr">
              <a:buNone/>
            </a:pPr>
            <a:r>
              <a:rPr lang="en-US" sz="1100" dirty="0">
                <a:solidFill>
                  <a:schemeClr val="tx2"/>
                </a:solidFill>
              </a:rPr>
              <a:t>Smartphone screen: MuJoCo view and camera view of the slave</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Application 2: Results</a:t>
            </a:r>
            <a:endParaRPr lang="en-US" sz="2600" dirty="0"/>
          </a:p>
        </p:txBody>
      </p:sp>
      <p:sp>
        <p:nvSpPr>
          <p:cNvPr id="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r>
              <a:rPr lang="en-US" sz="1500" dirty="0">
                <a:solidFill>
                  <a:schemeClr val="tx2"/>
                </a:solidFill>
              </a:rPr>
              <a:t>Both modes complete the task; the hand-held smartphone gives a noisier desired position.</a:t>
            </a:r>
            <a:endParaRPr lang="en-US" sz="1500" dirty="0"/>
          </a:p>
        </p:txBody>
      </p:sp>
      <p:pic>
        <p:nvPicPr>
          <p:cNvPr id="4" name="Position tracking, smartphone mode" descr="Position tracking, smartphone mode"/>
          <p:cNvPicPr>
            <a:picLocks noChangeAspect="1"/>
          </p:cNvPicPr>
          <p:nvPr/>
        </p:nvPicPr>
        <p:blipFill>
          <a:blip r:embed="rId3"/>
          <a:stretch>
            <a:fillRect/>
          </a:stretch>
        </p:blipFill>
        <p:spPr>
          <a:xfrm>
            <a:off x="548640" y="1554480"/>
            <a:ext cx="4937760" cy="3506525"/>
          </a:xfrm>
          <a:prstGeom prst="rect">
            <a:avLst/>
          </a:prstGeom>
        </p:spPr>
      </p:pic>
      <p:sp>
        <p:nvSpPr>
          <p:cNvPr id="5" name="Text 2"/>
          <p:cNvSpPr txBox="1"/>
          <p:nvPr/>
        </p:nvSpPr>
        <p:spPr>
          <a:xfrm>
            <a:off x="548640" y="5106725"/>
            <a:ext cx="4937760" cy="457200"/>
          </a:xfrm>
          <a:prstGeom prst="rect">
            <a:avLst/>
          </a:prstGeom>
          <a:noFill/>
          <a:ln/>
        </p:spPr>
        <p:txBody>
          <a:bodyPr wrap="square" lIns="0" tIns="0" rIns="0" bIns="0" rtlCol="0" anchor="t"/>
          <a:lstStyle/>
          <a:p>
            <a:pPr marL="0" indent="0" algn="ctr">
              <a:buNone/>
            </a:pPr>
            <a:r>
              <a:rPr lang="en-US" sz="1100" dirty="0">
                <a:solidFill>
                  <a:schemeClr val="tx2"/>
                </a:solidFill>
              </a:rPr>
              <a:t>Smartphone mode: desired (Target), command-derived and actual positions</a:t>
            </a:r>
            <a:endParaRPr lang="en-US" sz="1100" dirty="0"/>
          </a:p>
        </p:txBody>
      </p:sp>
      <p:graphicFrame>
        <p:nvGraphicFramePr>
          <p:cNvPr id="17" name="mode comparison table"/>
          <p:cNvGraphicFramePr>
            <a:graphicFrameLocks noGrp="1"/>
          </p:cNvGraphicFramePr>
          <p:nvPr>
            <p:extLst>
              <p:ext uri="{D42A27DB-BD31-4B8C-83A1-F6EECF244321}">
                <p14:modId xmlns:p14="http://schemas.microsoft.com/office/powerpoint/2010/main" val="1579011935"/>
              </p:ext>
            </p:extLst>
          </p:nvPr>
        </p:nvGraphicFramePr>
        <p:xfrm>
          <a:off x="5852160" y="1600200"/>
          <a:ext cx="5790895" cy="914400"/>
        </p:xfrm>
        <a:graphic>
          <a:graphicData uri="http://schemas.openxmlformats.org/drawingml/2006/table">
            <a:tbl>
              <a:tblPr/>
              <a:tblGrid>
                <a:gridCol w="2862072">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84048">
                <a:tc>
                  <a:txBody>
                    <a:bodyPr/>
                    <a:lstStyle/>
                    <a:p>
                      <a:pPr marL="0" indent="0" algn="ctr">
                        <a:buNone/>
                      </a:pPr>
                      <a:r>
                        <a:rPr lang="en-US" sz="1300" b="1" dirty="0">
                          <a:solidFill>
                            <a:schemeClr val="bg1"/>
                          </a:solidFill>
                        </a:rPr>
                        <a:t>Quantity</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Master arm</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Smartphone</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chemeClr val="tx1"/>
                          </a:solidFill>
                        </a:rPr>
                        <a:t>Mean position error (mm)</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12.12</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49.67</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1"/>
                          </a:solidFill>
                        </a:rPr>
                        <a:t>Mean orientation error (°)</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9.20</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4.47</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rPr>
                        <a:t>Mean computation time (ms)</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0.72</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1.88</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chemeClr val="tx1"/>
                          </a:solidFill>
                        </a:rPr>
                        <a:t>Geometric coverage (%)</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99.7</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tc>
                  <a:txBody>
                    <a:bodyPr/>
                    <a:lstStyle/>
                    <a:p>
                      <a:pPr marL="0" indent="0" algn="r">
                        <a:buNone/>
                      </a:pPr>
                      <a:r>
                        <a:rPr lang="en-US" sz="1300" dirty="0">
                          <a:solidFill>
                            <a:schemeClr val="tx1"/>
                          </a:solidFill>
                        </a:rPr>
                        <a:t>96.96</a:t>
                      </a:r>
                      <a:endParaRPr lang="en-US" sz="1300" dirty="0"/>
                    </a:p>
                  </a:txBody>
                  <a:tcPr anchor="ctr">
                    <a:lnL w="9525" cap="flat" cmpd="sng" algn="ctr">
                      <a:solidFill>
                        <a:srgbClr val="DDE3E0"/>
                      </a:solidFill>
                      <a:prstDash val="solid"/>
                      <a:round/>
                      <a:headEnd type="none" w="med" len="med"/>
                      <a:tailEnd type="none" w="med" len="med"/>
                    </a:lnL>
                    <a:lnR w="9525" cap="flat" cmpd="sng" algn="ctr">
                      <a:solidFill>
                        <a:srgbClr val="DDE3E0"/>
                      </a:solidFill>
                      <a:prstDash val="solid"/>
                      <a:round/>
                      <a:headEnd type="none" w="med" len="med"/>
                      <a:tailEnd type="none" w="med" len="med"/>
                    </a:lnR>
                    <a:lnT w="9525" cap="flat" cmpd="sng" algn="ctr">
                      <a:solidFill>
                        <a:srgbClr val="DDE3E0"/>
                      </a:solidFill>
                      <a:prstDash val="solid"/>
                      <a:round/>
                      <a:headEnd type="none" w="med" len="med"/>
                      <a:tailEnd type="none" w="med" len="med"/>
                    </a:lnT>
                    <a:lnB w="9525" cap="flat" cmpd="sng" algn="ctr">
                      <a:solidFill>
                        <a:srgbClr val="DDE3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Coverage views, smartphone mode" descr="Coverage views, smartphone mode"/>
          <p:cNvPicPr>
            <a:picLocks noChangeAspect="1"/>
          </p:cNvPicPr>
          <p:nvPr/>
        </p:nvPicPr>
        <p:blipFill>
          <a:blip r:embed="rId4"/>
          <a:stretch>
            <a:fillRect/>
          </a:stretch>
        </p:blipFill>
        <p:spPr>
          <a:xfrm>
            <a:off x="5852160" y="3703320"/>
            <a:ext cx="5790895" cy="1819765"/>
          </a:xfrm>
          <a:prstGeom prst="rect">
            <a:avLst/>
          </a:prstGeom>
        </p:spPr>
      </p:pic>
      <p:sp>
        <p:nvSpPr>
          <p:cNvPr id="8" name="Text 3"/>
          <p:cNvSpPr txBox="1"/>
          <p:nvPr/>
        </p:nvSpPr>
        <p:spPr>
          <a:xfrm>
            <a:off x="5852160" y="5550517"/>
            <a:ext cx="5790895" cy="457200"/>
          </a:xfrm>
          <a:prstGeom prst="rect">
            <a:avLst/>
          </a:prstGeom>
          <a:noFill/>
          <a:ln/>
        </p:spPr>
        <p:txBody>
          <a:bodyPr wrap="square" lIns="0" tIns="0" rIns="0" bIns="0" rtlCol="0" anchor="t"/>
          <a:lstStyle/>
          <a:p>
            <a:pPr marL="0" indent="0" algn="ctr">
              <a:buNone/>
            </a:pPr>
            <a:r>
              <a:rPr lang="en-US" sz="1100" dirty="0">
                <a:solidFill>
                  <a:schemeClr val="tx2"/>
                </a:solidFill>
              </a:rPr>
              <a:t>Smartphone mode: tool-tip path on the head (green: covered, red: uncovered)</a:t>
            </a:r>
            <a:endParaRPr lang="en-US" sz="1100" dirty="0"/>
          </a:p>
        </p:txBody>
      </p:sp>
      <p:sp>
        <p:nvSpPr>
          <p:cNvPr id="9" name="Text 4"/>
          <p:cNvSpPr txBox="1"/>
          <p:nvPr/>
        </p:nvSpPr>
        <p:spPr>
          <a:xfrm>
            <a:off x="548640" y="5518205"/>
            <a:ext cx="4937760" cy="548640"/>
          </a:xfrm>
          <a:prstGeom prst="rect">
            <a:avLst/>
          </a:prstGeom>
          <a:noFill/>
          <a:ln/>
        </p:spPr>
        <p:txBody>
          <a:bodyPr wrap="square" lIns="0" tIns="0" rIns="0" bIns="0" rtlCol="0" anchor="t"/>
          <a:lstStyle/>
          <a:p>
            <a:pPr marL="0" indent="0">
              <a:buNone/>
            </a:pPr>
            <a:r>
              <a:rPr lang="en-US" sz="1300" dirty="0">
                <a:solidFill>
                  <a:schemeClr val="tx1"/>
                </a:solidFill>
              </a:rPr>
              <a:t>Joint-velocity limits smooth the rapid hand motion, which causes short peaks of the position error.</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
            <a:ext cx="11094415" cy="658368"/>
          </a:xfrm>
          <a:prstGeom prst="rect">
            <a:avLst/>
          </a:prstGeom>
          <a:noFill/>
          <a:ln/>
        </p:spPr>
        <p:txBody>
          <a:bodyPr wrap="square" lIns="0" tIns="0" rIns="0" bIns="0" rtlCol="0" anchor="ctr"/>
          <a:lstStyle/>
          <a:p>
            <a:pPr marL="0" indent="0" algn="l">
              <a:buNone/>
            </a:pPr>
            <a:r>
              <a:rPr lang="en-US" sz="2600" b="1" dirty="0">
                <a:solidFill>
                  <a:schemeClr val="bg1"/>
                </a:solidFill>
              </a:rPr>
              <a:t>Conclusion</a:t>
            </a:r>
            <a:endParaRPr lang="en-US" sz="2600" dirty="0"/>
          </a:p>
        </p:txBody>
      </p:sp>
      <p:sp>
        <p:nvSpPr>
          <p:cNvPr id="3" name="Text 1"/>
          <p:cNvSpPr txBox="1"/>
          <p:nvPr/>
        </p:nvSpPr>
        <p:spPr>
          <a:xfrm>
            <a:off x="548640" y="1143000"/>
            <a:ext cx="11094415" cy="548640"/>
          </a:xfrm>
          <a:prstGeom prst="rect">
            <a:avLst/>
          </a:prstGeom>
          <a:noFill/>
          <a:ln/>
        </p:spPr>
        <p:txBody>
          <a:bodyPr wrap="square" lIns="0" tIns="0" rIns="0" bIns="0" rtlCol="0" anchor="ctr"/>
          <a:lstStyle/>
          <a:p>
            <a:pPr marL="0" indent="0" algn="ctr">
              <a:buNone/>
            </a:pPr>
            <a:r>
              <a:rPr lang="en-US" sz="2800" b="1" dirty="0">
                <a:solidFill>
                  <a:schemeClr val="accent1"/>
                </a:solidFill>
              </a:rPr>
              <a:t>QP-Based Heterogeneous Teleoperation for Robotic Haircutting</a:t>
            </a:r>
            <a:endParaRPr lang="en-US" sz="2800" dirty="0"/>
          </a:p>
        </p:txBody>
      </p:sp>
      <p:sp>
        <p:nvSpPr>
          <p:cNvPr id="4" name="Text 2"/>
          <p:cNvSpPr txBox="1"/>
          <p:nvPr/>
        </p:nvSpPr>
        <p:spPr>
          <a:xfrm>
            <a:off x="548640" y="1691640"/>
            <a:ext cx="11094415" cy="365760"/>
          </a:xfrm>
          <a:prstGeom prst="rect">
            <a:avLst/>
          </a:prstGeom>
          <a:noFill/>
          <a:ln/>
        </p:spPr>
        <p:txBody>
          <a:bodyPr wrap="square" lIns="0" tIns="0" rIns="0" bIns="0" rtlCol="0" anchor="ctr"/>
          <a:lstStyle/>
          <a:p>
            <a:pPr marL="0" indent="0" algn="ctr">
              <a:buNone/>
            </a:pPr>
            <a:r>
              <a:rPr lang="en-US" sz="1600" i="1" dirty="0">
                <a:solidFill>
                  <a:schemeClr val="tx2"/>
                </a:solidFill>
              </a:rPr>
              <a:t>an SO101 master with a Piper slave, and a smartphone as a low-cost master</a:t>
            </a:r>
            <a:endParaRPr lang="en-US" sz="1600" dirty="0"/>
          </a:p>
        </p:txBody>
      </p:sp>
      <p:pic>
        <p:nvPicPr>
          <p:cNvPr id="5" name="Master-arm mode" descr="Master-arm mode"/>
          <p:cNvPicPr>
            <a:picLocks noChangeAspect="1"/>
          </p:cNvPicPr>
          <p:nvPr/>
        </p:nvPicPr>
        <p:blipFill>
          <a:blip r:embed="rId3"/>
          <a:stretch>
            <a:fillRect/>
          </a:stretch>
        </p:blipFill>
        <p:spPr>
          <a:xfrm>
            <a:off x="541369" y="2240280"/>
            <a:ext cx="3666410" cy="2062356"/>
          </a:xfrm>
          <a:prstGeom prst="rect">
            <a:avLst/>
          </a:prstGeom>
        </p:spPr>
      </p:pic>
      <p:pic>
        <p:nvPicPr>
          <p:cNvPr id="6" name="Smartphone mode" descr="Smartphone mode"/>
          <p:cNvPicPr>
            <a:picLocks noChangeAspect="1"/>
          </p:cNvPicPr>
          <p:nvPr/>
        </p:nvPicPr>
        <p:blipFill>
          <a:blip r:embed="rId4"/>
          <a:stretch>
            <a:fillRect/>
          </a:stretch>
        </p:blipFill>
        <p:spPr>
          <a:xfrm>
            <a:off x="4317507" y="2240280"/>
            <a:ext cx="7332820" cy="2062356"/>
          </a:xfrm>
          <a:prstGeom prst="rect">
            <a:avLst/>
          </a:prstGeom>
        </p:spPr>
      </p:pic>
      <p:sp>
        <p:nvSpPr>
          <p:cNvPr id="7" name="image label"/>
          <p:cNvSpPr/>
          <p:nvPr/>
        </p:nvSpPr>
        <p:spPr>
          <a:xfrm>
            <a:off x="541369" y="3936876"/>
            <a:ext cx="2103120" cy="365760"/>
          </a:xfrm>
          <a:prstGeom prst="rect">
            <a:avLst/>
          </a:prstGeom>
          <a:solidFill>
            <a:schemeClr val="accent1">
              <a:alpha val="85000"/>
            </a:schemeClr>
          </a:solidFill>
          <a:ln/>
        </p:spPr>
      </p:sp>
      <p:sp>
        <p:nvSpPr>
          <p:cNvPr id="8" name="Text 4"/>
          <p:cNvSpPr txBox="1"/>
          <p:nvPr/>
        </p:nvSpPr>
        <p:spPr>
          <a:xfrm>
            <a:off x="678529" y="3936876"/>
            <a:ext cx="1920240" cy="365760"/>
          </a:xfrm>
          <a:prstGeom prst="rect">
            <a:avLst/>
          </a:prstGeom>
          <a:noFill/>
          <a:ln/>
        </p:spPr>
        <p:txBody>
          <a:bodyPr wrap="square" lIns="0" tIns="0" rIns="0" bIns="0" rtlCol="0" anchor="ctr"/>
          <a:lstStyle/>
          <a:p>
            <a:pPr marL="0" indent="0">
              <a:buNone/>
            </a:pPr>
            <a:r>
              <a:rPr lang="en-US" sz="1300" b="1" dirty="0">
                <a:solidFill>
                  <a:schemeClr val="bg1"/>
                </a:solidFill>
              </a:rPr>
              <a:t>Master-arm mode</a:t>
            </a:r>
            <a:endParaRPr lang="en-US" sz="1300" dirty="0"/>
          </a:p>
        </p:txBody>
      </p:sp>
      <p:sp>
        <p:nvSpPr>
          <p:cNvPr id="9" name="image label"/>
          <p:cNvSpPr/>
          <p:nvPr/>
        </p:nvSpPr>
        <p:spPr>
          <a:xfrm>
            <a:off x="4317507" y="3936876"/>
            <a:ext cx="2103120" cy="365760"/>
          </a:xfrm>
          <a:prstGeom prst="rect">
            <a:avLst/>
          </a:prstGeom>
          <a:solidFill>
            <a:schemeClr val="accent1">
              <a:alpha val="85000"/>
            </a:schemeClr>
          </a:solidFill>
          <a:ln/>
        </p:spPr>
      </p:sp>
      <p:sp>
        <p:nvSpPr>
          <p:cNvPr id="10" name="Text 6"/>
          <p:cNvSpPr txBox="1"/>
          <p:nvPr/>
        </p:nvSpPr>
        <p:spPr>
          <a:xfrm>
            <a:off x="4454667" y="3936876"/>
            <a:ext cx="1920240" cy="365760"/>
          </a:xfrm>
          <a:prstGeom prst="rect">
            <a:avLst/>
          </a:prstGeom>
          <a:noFill/>
          <a:ln/>
        </p:spPr>
        <p:txBody>
          <a:bodyPr wrap="square" lIns="0" tIns="0" rIns="0" bIns="0" rtlCol="0" anchor="ctr"/>
          <a:lstStyle/>
          <a:p>
            <a:pPr marL="0" indent="0">
              <a:buNone/>
            </a:pPr>
            <a:r>
              <a:rPr lang="en-US" sz="1300" b="1" dirty="0">
                <a:solidFill>
                  <a:schemeClr val="bg1"/>
                </a:solidFill>
              </a:rPr>
              <a:t>Smartphone mode</a:t>
            </a:r>
            <a:endParaRPr lang="en-US" sz="1300" dirty="0"/>
          </a:p>
        </p:txBody>
      </p:sp>
      <p:sp>
        <p:nvSpPr>
          <p:cNvPr id="11" name="Text 7"/>
          <p:cNvSpPr txBox="1"/>
          <p:nvPr/>
        </p:nvSpPr>
        <p:spPr>
          <a:xfrm>
            <a:off x="0" y="4983480"/>
            <a:ext cx="12191695" cy="914400"/>
          </a:xfrm>
          <a:prstGeom prst="rect">
            <a:avLst/>
          </a:prstGeom>
          <a:noFill/>
          <a:ln/>
        </p:spPr>
        <p:txBody>
          <a:bodyPr wrap="square" lIns="0" tIns="0" rIns="0" bIns="0" rtlCol="0" anchor="ctr"/>
          <a:lstStyle/>
          <a:p>
            <a:pPr marL="0" indent="0" algn="ctr">
              <a:buNone/>
            </a:pPr>
            <a:r>
              <a:rPr lang="en-US" sz="4400" b="1" dirty="0">
                <a:solidFill>
                  <a:schemeClr val="accent1"/>
                </a:solidFill>
              </a:rPr>
              <a:t>Thank you</a:t>
            </a:r>
            <a:endParaRPr lang="en-US" sz="4400" dirty="0"/>
          </a:p>
        </p:txBody>
      </p:sp>
      <p:sp>
        <p:nvSpPr>
          <p:cNvPr id="13" name="Text 1"/>
          <p:cNvSpPr>
            <a:spLocks noGrp="1"/>
          </p:cNvSpPr>
          <p:nvPr>
            <p:ph type="body" idx="102" hasCustomPrompt="1"/>
          </p:nvPr>
        </p:nvSpPr>
        <p:spPr>
          <a:xfrm>
            <a:off x="548640" y="1005840"/>
            <a:ext cx="11094415" cy="411480"/>
          </a:xfrm>
          <a:prstGeom prst="rect">
            <a:avLst/>
          </a:prstGeom>
          <a:noFill/>
          <a:ln/>
        </p:spPr>
        <p:txBody>
          <a:bodyPr wrap="square" lIns="0" tIns="0" rIns="0" bIns="0" rtlCol="0" anchor="t"/>
          <a:lstStyle/>
          <a:p>
            <a:pPr marL="0" indent="0" algn="l">
              <a:buNone/>
            </a:pP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QP Haircut Talk">
  <a:themeElements>
    <a:clrScheme name="QP Haircut Talk">
      <a:dk1>
        <a:srgbClr val="1A1A1A"/>
      </a:dk1>
      <a:lt1>
        <a:srgbClr val="FFFFFF"/>
      </a:lt1>
      <a:dk2>
        <a:srgbClr val="5F6368"/>
      </a:dk2>
      <a:lt2>
        <a:srgbClr val="EEF2F7"/>
      </a:lt2>
      <a:accent1>
        <a:srgbClr val="1B365D"/>
      </a:accent1>
      <a:accent2>
        <a:srgbClr val="D9822B"/>
      </a:accent2>
      <a:accent3>
        <a:srgbClr val="3A6EA5"/>
      </a:accent3>
      <a:accent4>
        <a:srgbClr val="B03A2E"/>
      </a:accent4>
      <a:accent5>
        <a:srgbClr val="CADCFC"/>
      </a:accent5>
      <a:accent6>
        <a:srgbClr val="E3E9F2"/>
      </a:accent6>
      <a:hlink>
        <a:srgbClr val="1B365D"/>
      </a:hlink>
      <a:folHlink>
        <a:srgbClr val="5F6368"/>
      </a:folHlink>
    </a:clrScheme>
    <a:fontScheme name="QP Haircut Talk">
      <a:majorFont>
        <a:latin typeface="Arial"/>
        <a:ea typeface=""/>
        <a:cs typeface=""/>
        <a:font script="Jpan" typeface="Yu Gothic Light"/>
        <a:font script="Hang" typeface="Malgun Gothic"/>
        <a:font script="Hans" typeface="DengXian Light"/>
        <a:font script="Hant" typeface="PMingLiU"/>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Yu Gothic"/>
        <a:font script="Hang" typeface="Malgun Gothic"/>
        <a:font script="Hans" typeface="DengXian"/>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Malgun Gothic"/>
        <a:font script="Hans" typeface="DengXian Light"/>
        <a:font script="Hant" typeface="PMingLiU"/>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Malgun Gothic"/>
        <a:font script="Hans" typeface="DengXian"/>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3495</Words>
  <Application>Microsoft Office PowerPoint</Application>
  <PresentationFormat>Widescreen</PresentationFormat>
  <Paragraphs>264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DengXian</vt:lpstr>
      <vt:lpstr>Arial</vt:lpstr>
      <vt:lpstr>QP Haircut Talk</vt:lpstr>
      <vt:lpstr>A Quadratic Programming Based Teleoperation Scheme and Its Applications for Robotic Haircutting</vt:lpstr>
      <vt:lpstr>Outline</vt:lpstr>
      <vt:lpstr>Motivation</vt:lpstr>
      <vt:lpstr>Why Teleoperation for Haircutting Is Hard</vt:lpstr>
      <vt:lpstr>Our Contributions</vt:lpstr>
      <vt:lpstr>Preliminaries: Projection Neural Network</vt:lpstr>
      <vt:lpstr>Problem: Pose Tracking within Joint Limits</vt:lpstr>
      <vt:lpstr>Discrete-Time Projection Neural Network</vt:lpstr>
      <vt:lpstr>Convergence Analysis</vt:lpstr>
      <vt:lpstr>What the Theory Means in Practice</vt:lpstr>
      <vt:lpstr>Application 1: Heterogeneous Master–Slave Teleoperation</vt:lpstr>
      <vt:lpstr>Application 1: Tracking Errors</vt:lpstr>
      <vt:lpstr>Application 1: Effect of Joint Limits</vt:lpstr>
      <vt:lpstr>Application 1: Coverage and Computation Time</vt:lpstr>
      <vt:lpstr>Application 2: Smartphone-Based Teleoperation via Tag</vt:lpstr>
      <vt:lpstr>Application 2: Results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Quadratic Programming Based Teleoperation Scheme and Its Applications for Robotic Haircutting</dc:title>
  <dc:subject>PptxGenJS Presentation</dc:subject>
  <dc:creator>PptxGenJS</dc:creator>
  <cp:lastModifiedBy>haoen</cp:lastModifiedBy>
  <cp:revision>2</cp:revision>
  <dcterms:created xsi:type="dcterms:W3CDTF">2026-10-26T13:16:07Z</dcterms:created>
  <dcterms:modified xsi:type="dcterms:W3CDTF">2026-10-26T13:36:43Z</dcterms:modified>
</cp:coreProperties>
</file>